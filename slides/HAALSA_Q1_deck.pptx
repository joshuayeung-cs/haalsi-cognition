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3cbfbf1-7a0e-6ae2-b01f-83b0583249d9}">
          <p14:sldIdLst>
            <p14:sldId id="256"/>
            <p14:sldId id="257"/>
            <p14:sldId id="258"/>
          </p14:sldIdLst>
        </p14:section>
        <p14:section name="Findings" id="{b71e4cd8-735f-8375-d527-f4dd024bf283}">
          <p14:sldIdLst>
            <p14:sldId id="259"/>
            <p14:sldId id="260"/>
            <p14:sldId id="261"/>
          </p14:sldIdLst>
        </p14:section>
        <p14:section name="Verdict" id="{7aff83b8-9945-4f0b-c8bd-93a12a3f0169}">
          <p14:sldIdLst>
            <p14:sldId id="262"/>
            <p14:sldId id="263"/>
          </p14:sldIdLst>
        </p14:section>
        <p14:section name="Close" id="{823ad2cb-545e-5c54-aa41-a38ac69e87b7}">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[team name]. Our question is simple: if you could fund one intervention, money, medicine or therapy, which would most reduce cognitive impairment among older adults in rural South Africa? We used all three waves of HAALSI to find out. In the next five minutes we'll show three findings, compare the three options head to head, and finish with what we can and cannot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scale. About one in five older adults in the study have low cognition, which we define as the bottom twenty percent of scores at Wave 1. Yet evidence on preventing it in low and middle-income countries is thin; most studies come from rich countries. So we compared three realistic candidates: a cash transfer for financial security, hypertension care, and psychotherapy for depression.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HAALSI, from Agincourt, South Africa: 5,059 adults aged forty and over, followed across three waves over about six years. The outcome is a cognition score combining orientation and word recall, in Wave 1 standard deviations, plus a low-cognition flag. We adjusted for age, sex and education because they come first. We did not adjust for BMI, hypertension or depression in the wealth model, because those may be the pathways. Then we used regression, a mixed model for change, and simulated each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one: wealth. Cognition rises with every step of household wealth; the richest fifth score 0.31 standard deviations above the poorest. Each standard deviation more in household assets means thirty percent lower odds of low cognition, an odds ratio of 0.70. That barely moves, staying between 0.70 and 0.75, when we add marital status, household size and birthplace. And an unmeasured confounder would need a risk ratio of 1.67 with both wealth and cognition to explain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two: hypertension, and here we have to be careful. People with untreated hypertension score the same as people without it. People on treatment score 0.16 standard deviations higher. Pills that make you sharper? Probably not. The treated group is four years older, 66.8 versus 62.5, and richer: 47 percent are in the top two wealth quintiles versus 40 percent. This shows who gets treated, people with access to care, not what the pills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three: depression. One standard deviation more depressive symptoms goes with a test score 0.11 standard deviations lower. But for self-reported difficulty with memory, concentration and learning, the association is 0.17 to 0.20, almost twice as large. So depression shows up much more in how people rate their memory than in how they actually score. The practical point: screening with self-reports would over-flag depressed people as impaired.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head to head. We simulated each intervention and predicted the share with low cognition before and after. A cash transfer raising assets by half a standard deviation cuts it by 2.2 percentage points, about eleven percent of cases. Treating all untreated hypertension gives a similar 2.1, but that's the estimate we trust least, because of Finding two. Psychotherapy gives 0.6. Our verdict: financial security. It's the largest, the most credible, backed by South Africa's Old Age Pension research, and it helps the whole household.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limitations. First, this is observational: wealth may stand in for lifelong advantage, like childhood conditions or ability, and the E-value of 1.67 tells you how strong that hidden factor would need to be. Second, the hypertension comparison is confounded by access to care. Third, scores rise about 0.08 per year from practice, and about one in five died by Wave 3, so change estimates lean upward. So: prioritise cash transfers and pension coverage, and test it causally at the pension age of sixty.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in this data, money beats medicine and therapy, both in the size of the effect and in how much we trust it. Thank you to the HAALSI team, the National Institute on Aging, Harvard and Wits for the data, and to the organisers.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rtlCol="0"/>
          <a:lstStyle>
            <a:lvl1pPr indent="0" marL="0">
              <a:buNone/>
              <a:defRPr lang="en-US" sz="2800" b="1" dirty="0">
                <a:solidFill>
                  <a:schemeClr val="accent1"/>
                </a:solidFill>
              </a:defRPr>
            </a:lvl1pP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ney circle"/>
          <p:cNvSpPr/>
          <p:nvPr/>
        </p:nvSpPr>
        <p:spPr>
          <a:xfrm>
            <a:off x="731520" y="1097280"/>
            <a:ext cx="822960" cy="822960"/>
          </a:xfrm>
          <a:prstGeom prst="ellipse">
            <a:avLst/>
          </a:prstGeom>
          <a:solidFill>
            <a:schemeClr val="accent2"/>
          </a:solidFill>
          <a:ln w="12700">
            <a:solidFill>
              <a:schemeClr val="accent2"/>
            </a:solidFill>
            <a:prstDash val="solid"/>
          </a:ln>
        </p:spPr>
      </p:sp>
      <p:pic>
        <p:nvPicPr>
          <p:cNvPr id="3" name="Money icon" descr="Money">    </p:cNvPr>
          <p:cNvPicPr>
            <a:picLocks noChangeAspect="1"/>
          </p:cNvPicPr>
          <p:nvPr/>
        </p:nvPicPr>
        <p:blipFill>
          <a:blip r:embed="rId1"/>
          <a:stretch>
            <a:fillRect/>
          </a:stretch>
        </p:blipFill>
        <p:spPr>
          <a:xfrm>
            <a:off x="937260" y="1303020"/>
            <a:ext cx="411480" cy="411480"/>
          </a:xfrm>
          <a:prstGeom prst="rect">
            <a:avLst/>
          </a:prstGeom>
        </p:spPr>
      </p:pic>
      <p:sp>
        <p:nvSpPr>
          <p:cNvPr id="4" name="Medicine circle"/>
          <p:cNvSpPr/>
          <p:nvPr/>
        </p:nvSpPr>
        <p:spPr>
          <a:xfrm>
            <a:off x="1783080" y="1097280"/>
            <a:ext cx="822960" cy="822960"/>
          </a:xfrm>
          <a:prstGeom prst="ellipse">
            <a:avLst/>
          </a:prstGeom>
          <a:solidFill>
            <a:schemeClr val="accent2"/>
          </a:solidFill>
          <a:ln w="12700">
            <a:solidFill>
              <a:schemeClr val="accent2"/>
            </a:solidFill>
            <a:prstDash val="solid"/>
          </a:ln>
        </p:spPr>
      </p:sp>
      <p:pic>
        <p:nvPicPr>
          <p:cNvPr id="5" name="Medicine icon" descr="Medicine">    </p:cNvPr>
          <p:cNvPicPr>
            <a:picLocks noChangeAspect="1"/>
          </p:cNvPicPr>
          <p:nvPr/>
        </p:nvPicPr>
        <p:blipFill>
          <a:blip r:embed="rId2"/>
          <a:stretch>
            <a:fillRect/>
          </a:stretch>
        </p:blipFill>
        <p:spPr>
          <a:xfrm>
            <a:off x="1988820" y="1303020"/>
            <a:ext cx="411480" cy="411480"/>
          </a:xfrm>
          <a:prstGeom prst="rect">
            <a:avLst/>
          </a:prstGeom>
        </p:spPr>
      </p:pic>
      <p:sp>
        <p:nvSpPr>
          <p:cNvPr id="6" name="Therapy circle"/>
          <p:cNvSpPr/>
          <p:nvPr/>
        </p:nvSpPr>
        <p:spPr>
          <a:xfrm>
            <a:off x="2834640" y="1097280"/>
            <a:ext cx="822960" cy="822960"/>
          </a:xfrm>
          <a:prstGeom prst="ellipse">
            <a:avLst/>
          </a:prstGeom>
          <a:solidFill>
            <a:schemeClr val="accent2"/>
          </a:solidFill>
          <a:ln w="12700">
            <a:solidFill>
              <a:schemeClr val="accent2"/>
            </a:solidFill>
            <a:prstDash val="solid"/>
          </a:ln>
        </p:spPr>
      </p:sp>
      <p:pic>
        <p:nvPicPr>
          <p:cNvPr id="7" name="Therapy icon" descr="Therapy">    </p:cNvPr>
          <p:cNvPicPr>
            <a:picLocks noChangeAspect="1"/>
          </p:cNvPicPr>
          <p:nvPr/>
        </p:nvPicPr>
        <p:blipFill>
          <a:blip r:embed="rId3"/>
          <a:stretch>
            <a:fillRect/>
          </a:stretch>
        </p:blipFill>
        <p:spPr>
          <a:xfrm>
            <a:off x="3040380" y="1303020"/>
            <a:ext cx="411480" cy="411480"/>
          </a:xfrm>
          <a:prstGeom prst="rect">
            <a:avLst/>
          </a:prstGeom>
        </p:spPr>
      </p:pic>
      <p:sp>
        <p:nvSpPr>
          <p:cNvPr id="8" name="Title"/>
          <p:cNvSpPr txBox="1"/>
          <p:nvPr/>
        </p:nvSpPr>
        <p:spPr>
          <a:xfrm>
            <a:off x="731520" y="2286000"/>
            <a:ext cx="10698480" cy="1005840"/>
          </a:xfrm>
          <a:prstGeom prst="rect">
            <a:avLst/>
          </a:prstGeom>
          <a:noFill/>
          <a:ln/>
        </p:spPr>
        <p:txBody>
          <a:bodyPr wrap="square" lIns="0" tIns="0" rIns="0" bIns="0" rtlCol="0" anchor="ctr"/>
          <a:lstStyle/>
          <a:p>
            <a:pPr indent="0" marL="0">
              <a:buNone/>
            </a:pPr>
            <a:r>
              <a:rPr lang="en-US" sz="5400" b="1" dirty="0">
                <a:solidFill>
                  <a:schemeClr val="bg1"/>
                </a:solidFill>
                <a:latin typeface="Arial" pitchFamily="34" charset="0"/>
                <a:ea typeface="Arial" pitchFamily="34" charset="-122"/>
                <a:cs typeface="Arial" pitchFamily="34" charset="-120"/>
              </a:rPr>
              <a:t>Money, medicine or therapy?</a:t>
            </a:r>
            <a:endParaRPr lang="en-US" sz="5400" dirty="0"/>
          </a:p>
        </p:txBody>
      </p:sp>
      <p:sp>
        <p:nvSpPr>
          <p:cNvPr id="9" name="Subtitle"/>
          <p:cNvSpPr txBox="1"/>
          <p:nvPr/>
        </p:nvSpPr>
        <p:spPr>
          <a:xfrm>
            <a:off x="731520" y="3429000"/>
            <a:ext cx="9601200" cy="1005840"/>
          </a:xfrm>
          <a:prstGeom prst="rect">
            <a:avLst/>
          </a:prstGeom>
          <a:noFill/>
          <a:ln/>
        </p:spPr>
        <p:txBody>
          <a:bodyPr wrap="square" lIns="0" tIns="0" rIns="0" bIns="0" rtlCol="0" anchor="t"/>
          <a:lstStyle/>
          <a:p>
            <a:pPr indent="0" marL="0">
              <a:buNone/>
            </a:pPr>
            <a:r>
              <a:rPr lang="en-US" sz="2400" dirty="0">
                <a:solidFill>
                  <a:schemeClr val="accent4"/>
                </a:solidFill>
              </a:rPr>
              <a:t>Which intervention could most reduce cognitive impairment among older adults in rural South Africa</a:t>
            </a:r>
            <a:endParaRPr lang="en-US" sz="2400" dirty="0"/>
          </a:p>
        </p:txBody>
      </p:sp>
      <p:sp>
        <p:nvSpPr>
          <p:cNvPr id="10" name="Byline"/>
          <p:cNvSpPr txBox="1"/>
          <p:nvPr/>
        </p:nvSpPr>
        <p:spPr>
          <a:xfrm>
            <a:off x="731520" y="5669280"/>
            <a:ext cx="10698480" cy="457200"/>
          </a:xfrm>
          <a:prstGeom prst="rect">
            <a:avLst/>
          </a:prstGeom>
          <a:noFill/>
          <a:ln/>
        </p:spPr>
        <p:txBody>
          <a:bodyPr wrap="square" lIns="0" tIns="0" rIns="0" bIns="0" rtlCol="0" anchor="ctr"/>
          <a:lstStyle/>
          <a:p>
            <a:pPr indent="0" marL="0">
              <a:buNone/>
            </a:pPr>
            <a:r>
              <a:rPr lang="en-US" sz="1800" dirty="0">
                <a:solidFill>
                  <a:schemeClr val="bg1"/>
                </a:solidFill>
              </a:rPr>
              <a:t>HAALSI Waves 1–3  ·  HAALSI Data Hackathon, Oct 2026  ·  [Names]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lIns="0" tIns="0" rIns="0" bIns="0" rtlCol="0" anchor="ctr"/>
          <a:lstStyle/>
          <a:p>
            <a:pPr indent="0" marL="0">
              <a:buNone/>
            </a:pPr>
            <a:r>
              <a:rPr lang="en-US" sz="2800" b="1" dirty="0">
                <a:solidFill>
                  <a:schemeClr val="accent1"/>
                </a:solidFill>
              </a:rPr>
              <a:t>The question</a:t>
            </a:r>
            <a:endParaRPr lang="en-US" sz="2800" dirty="0"/>
          </a:p>
        </p:txBody>
      </p:sp>
      <p:sp>
        <p:nvSpPr>
          <p:cNvPr id="3" name="Stat card"/>
          <p:cNvSpPr/>
          <p:nvPr/>
        </p:nvSpPr>
        <p:spPr>
          <a:xfrm>
            <a:off x="548640" y="1234440"/>
            <a:ext cx="4937760" cy="4846320"/>
          </a:xfrm>
          <a:prstGeom prst="roundRect">
            <a:avLst>
              <a:gd name="adj" fmla="val 1887"/>
            </a:avLst>
          </a:prstGeom>
          <a:solidFill>
            <a:schemeClr val="accent3"/>
          </a:solidFill>
          <a:ln w="12700">
            <a:solidFill>
              <a:schemeClr val="accent3"/>
            </a:solidFill>
            <a:prstDash val="solid"/>
          </a:ln>
        </p:spPr>
      </p:sp>
      <p:sp>
        <p:nvSpPr>
          <p:cNvPr id="4" name="Key stat"/>
          <p:cNvSpPr txBox="1"/>
          <p:nvPr/>
        </p:nvSpPr>
        <p:spPr>
          <a:xfrm>
            <a:off x="868680" y="1600200"/>
            <a:ext cx="4297680" cy="1371600"/>
          </a:xfrm>
          <a:prstGeom prst="rect">
            <a:avLst/>
          </a:prstGeom>
          <a:noFill/>
          <a:ln/>
        </p:spPr>
        <p:txBody>
          <a:bodyPr wrap="square" lIns="0" tIns="0" rIns="0" bIns="0" rtlCol="0" anchor="ctr"/>
          <a:lstStyle/>
          <a:p>
            <a:pPr indent="0" marL="0">
              <a:buNone/>
            </a:pPr>
            <a:r>
              <a:rPr lang="en-US" sz="9600" b="1" dirty="0">
                <a:solidFill>
                  <a:schemeClr val="accent2"/>
                </a:solidFill>
                <a:latin typeface="Arial" pitchFamily="34" charset="0"/>
                <a:ea typeface="Arial" pitchFamily="34" charset="-122"/>
                <a:cs typeface="Arial" pitchFamily="34" charset="-120"/>
              </a:rPr>
              <a:t>1 in 5</a:t>
            </a:r>
            <a:endParaRPr lang="en-US" sz="9600" dirty="0"/>
          </a:p>
        </p:txBody>
      </p:sp>
      <p:sp>
        <p:nvSpPr>
          <p:cNvPr id="5" name="Key stat label"/>
          <p:cNvSpPr txBox="1"/>
          <p:nvPr/>
        </p:nvSpPr>
        <p:spPr>
          <a:xfrm>
            <a:off x="868680" y="3063240"/>
            <a:ext cx="4297680" cy="822960"/>
          </a:xfrm>
          <a:prstGeom prst="rect">
            <a:avLst/>
          </a:prstGeom>
          <a:noFill/>
          <a:ln/>
        </p:spPr>
        <p:txBody>
          <a:bodyPr wrap="square" lIns="0" tIns="0" rIns="0" bIns="0" rtlCol="0" anchor="t"/>
          <a:lstStyle/>
          <a:p>
            <a:pPr indent="0" marL="0">
              <a:buNone/>
            </a:pPr>
            <a:r>
              <a:rPr lang="en-US" sz="2400" b="1" dirty="0">
                <a:solidFill>
                  <a:schemeClr val="tx1"/>
                </a:solidFill>
              </a:rPr>
              <a:t>older adults in the study have low cognition</a:t>
            </a:r>
            <a:endParaRPr lang="en-US" sz="2400" dirty="0"/>
          </a:p>
        </p:txBody>
      </p:sp>
      <p:sp>
        <p:nvSpPr>
          <p:cNvPr id="6" name="Key stat note"/>
          <p:cNvSpPr txBox="1"/>
          <p:nvPr/>
        </p:nvSpPr>
        <p:spPr>
          <a:xfrm>
            <a:off x="868680" y="3931920"/>
            <a:ext cx="4297680" cy="365760"/>
          </a:xfrm>
          <a:prstGeom prst="rect">
            <a:avLst/>
          </a:prstGeom>
          <a:noFill/>
          <a:ln/>
        </p:spPr>
        <p:txBody>
          <a:bodyPr wrap="square" lIns="0" tIns="0" rIns="0" bIns="0" rtlCol="0" anchor="ctr"/>
          <a:lstStyle/>
          <a:p>
            <a:pPr indent="0" marL="0">
              <a:buNone/>
            </a:pPr>
            <a:r>
              <a:rPr lang="en-US" sz="1800" dirty="0">
                <a:solidFill>
                  <a:schemeClr val="accent5"/>
                </a:solidFill>
              </a:rPr>
              <a:t>Bottom 20% at Wave 1</a:t>
            </a:r>
            <a:endParaRPr lang="en-US" sz="1800" dirty="0"/>
          </a:p>
        </p:txBody>
      </p:sp>
      <p:sp>
        <p:nvSpPr>
          <p:cNvPr id="7" name="Evidence gap"/>
          <p:cNvSpPr txBox="1"/>
          <p:nvPr/>
        </p:nvSpPr>
        <p:spPr>
          <a:xfrm>
            <a:off x="868680" y="4754880"/>
            <a:ext cx="4297680" cy="822960"/>
          </a:xfrm>
          <a:prstGeom prst="rect">
            <a:avLst/>
          </a:prstGeom>
          <a:noFill/>
          <a:ln/>
        </p:spPr>
        <p:txBody>
          <a:bodyPr wrap="square" lIns="0" tIns="0" rIns="0" bIns="0" rtlCol="0" anchor="t"/>
          <a:lstStyle/>
          <a:p>
            <a:pPr indent="0" marL="0">
              <a:buNone/>
            </a:pPr>
            <a:r>
              <a:rPr lang="en-US" sz="2000" i="1" dirty="0">
                <a:solidFill>
                  <a:schemeClr val="accent2"/>
                </a:solidFill>
              </a:rPr>
              <a:t>Prevention evidence in low/middle-income countries is thin</a:t>
            </a:r>
            <a:endParaRPr lang="en-US" sz="2000" dirty="0"/>
          </a:p>
        </p:txBody>
      </p:sp>
      <p:sp>
        <p:nvSpPr>
          <p:cNvPr id="8" name="Candidates header"/>
          <p:cNvSpPr txBox="1"/>
          <p:nvPr/>
        </p:nvSpPr>
        <p:spPr>
          <a:xfrm>
            <a:off x="6035040" y="1234440"/>
            <a:ext cx="5577840" cy="457200"/>
          </a:xfrm>
          <a:prstGeom prst="rect">
            <a:avLst/>
          </a:prstGeom>
          <a:noFill/>
          <a:ln/>
        </p:spPr>
        <p:txBody>
          <a:bodyPr wrap="square" lIns="0" tIns="0" rIns="0" bIns="0" rtlCol="0" anchor="ctr"/>
          <a:lstStyle/>
          <a:p>
            <a:pPr indent="0" marL="0">
              <a:buNone/>
            </a:pPr>
            <a:r>
              <a:rPr lang="en-US" sz="2000" b="1" dirty="0">
                <a:solidFill>
                  <a:schemeClr val="accent5"/>
                </a:solidFill>
              </a:rPr>
              <a:t>Three candidates</a:t>
            </a:r>
            <a:endParaRPr lang="en-US" sz="2000" dirty="0"/>
          </a:p>
        </p:txBody>
      </p:sp>
      <p:sp>
        <p:nvSpPr>
          <p:cNvPr id="9" name="Money card"/>
          <p:cNvSpPr/>
          <p:nvPr/>
        </p:nvSpPr>
        <p:spPr>
          <a:xfrm>
            <a:off x="6035040" y="1874520"/>
            <a:ext cx="5605272" cy="1188720"/>
          </a:xfrm>
          <a:prstGeom prst="roundRect">
            <a:avLst>
              <a:gd name="adj" fmla="val 7692"/>
            </a:avLst>
          </a:prstGeom>
          <a:solidFill>
            <a:schemeClr val="bg2"/>
          </a:solidFill>
          <a:ln w="12700">
            <a:solidFill>
              <a:schemeClr val="bg2"/>
            </a:solidFill>
            <a:prstDash val="solid"/>
          </a:ln>
        </p:spPr>
      </p:sp>
      <p:sp>
        <p:nvSpPr>
          <p:cNvPr id="10" name="Money circle"/>
          <p:cNvSpPr/>
          <p:nvPr/>
        </p:nvSpPr>
        <p:spPr>
          <a:xfrm>
            <a:off x="6263640" y="2057400"/>
            <a:ext cx="822960" cy="822960"/>
          </a:xfrm>
          <a:prstGeom prst="ellipse">
            <a:avLst/>
          </a:prstGeom>
          <a:solidFill>
            <a:schemeClr val="accent1"/>
          </a:solidFill>
          <a:ln w="12700">
            <a:solidFill>
              <a:schemeClr val="accent1"/>
            </a:solidFill>
            <a:prstDash val="solid"/>
          </a:ln>
        </p:spPr>
      </p:sp>
      <p:pic>
        <p:nvPicPr>
          <p:cNvPr id="11" name="Money icon" descr="Money">    </p:cNvPr>
          <p:cNvPicPr>
            <a:picLocks noChangeAspect="1"/>
          </p:cNvPicPr>
          <p:nvPr/>
        </p:nvPicPr>
        <p:blipFill>
          <a:blip r:embed="rId1"/>
          <a:stretch>
            <a:fillRect/>
          </a:stretch>
        </p:blipFill>
        <p:spPr>
          <a:xfrm>
            <a:off x="6469380" y="2263140"/>
            <a:ext cx="411480" cy="411480"/>
          </a:xfrm>
          <a:prstGeom prst="rect">
            <a:avLst/>
          </a:prstGeom>
        </p:spPr>
      </p:pic>
      <p:sp>
        <p:nvSpPr>
          <p:cNvPr id="12" name="Money name"/>
          <p:cNvSpPr txBox="1"/>
          <p:nvPr/>
        </p:nvSpPr>
        <p:spPr>
          <a:xfrm>
            <a:off x="7315200" y="2057400"/>
            <a:ext cx="4114800" cy="45720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Money</a:t>
            </a:r>
            <a:endParaRPr lang="en-US" sz="2600" dirty="0"/>
          </a:p>
        </p:txBody>
      </p:sp>
      <p:sp>
        <p:nvSpPr>
          <p:cNvPr id="13" name="Money detail"/>
          <p:cNvSpPr txBox="1"/>
          <p:nvPr/>
        </p:nvSpPr>
        <p:spPr>
          <a:xfrm>
            <a:off x="7315200" y="2532888"/>
            <a:ext cx="4114800" cy="365760"/>
          </a:xfrm>
          <a:prstGeom prst="rect">
            <a:avLst/>
          </a:prstGeom>
          <a:noFill/>
          <a:ln/>
        </p:spPr>
        <p:txBody>
          <a:bodyPr wrap="square" lIns="0" tIns="0" rIns="0" bIns="0" rtlCol="0" anchor="ctr"/>
          <a:lstStyle/>
          <a:p>
            <a:pPr indent="0" marL="0">
              <a:buNone/>
            </a:pPr>
            <a:r>
              <a:rPr lang="en-US" sz="1800" dirty="0">
                <a:solidFill>
                  <a:schemeClr val="tx1"/>
                </a:solidFill>
              </a:rPr>
              <a:t>Cash transfer · financial security</a:t>
            </a:r>
            <a:endParaRPr lang="en-US" sz="1800" dirty="0"/>
          </a:p>
        </p:txBody>
      </p:sp>
      <p:sp>
        <p:nvSpPr>
          <p:cNvPr id="14" name="Medicine card"/>
          <p:cNvSpPr/>
          <p:nvPr/>
        </p:nvSpPr>
        <p:spPr>
          <a:xfrm>
            <a:off x="6035040" y="3291840"/>
            <a:ext cx="5605272" cy="1188720"/>
          </a:xfrm>
          <a:prstGeom prst="roundRect">
            <a:avLst>
              <a:gd name="adj" fmla="val 7692"/>
            </a:avLst>
          </a:prstGeom>
          <a:solidFill>
            <a:schemeClr val="bg2"/>
          </a:solidFill>
          <a:ln w="12700">
            <a:solidFill>
              <a:schemeClr val="bg2"/>
            </a:solidFill>
            <a:prstDash val="solid"/>
          </a:ln>
        </p:spPr>
      </p:sp>
      <p:sp>
        <p:nvSpPr>
          <p:cNvPr id="15" name="Medicine circle"/>
          <p:cNvSpPr/>
          <p:nvPr/>
        </p:nvSpPr>
        <p:spPr>
          <a:xfrm>
            <a:off x="6263640" y="3474720"/>
            <a:ext cx="822960" cy="822960"/>
          </a:xfrm>
          <a:prstGeom prst="ellipse">
            <a:avLst/>
          </a:prstGeom>
          <a:solidFill>
            <a:schemeClr val="accent1"/>
          </a:solidFill>
          <a:ln w="12700">
            <a:solidFill>
              <a:schemeClr val="accent1"/>
            </a:solidFill>
            <a:prstDash val="solid"/>
          </a:ln>
        </p:spPr>
      </p:sp>
      <p:pic>
        <p:nvPicPr>
          <p:cNvPr id="16" name="Medicine icon" descr="Medicine">    </p:cNvPr>
          <p:cNvPicPr>
            <a:picLocks noChangeAspect="1"/>
          </p:cNvPicPr>
          <p:nvPr/>
        </p:nvPicPr>
        <p:blipFill>
          <a:blip r:embed="rId2"/>
          <a:stretch>
            <a:fillRect/>
          </a:stretch>
        </p:blipFill>
        <p:spPr>
          <a:xfrm>
            <a:off x="6469380" y="3680460"/>
            <a:ext cx="411480" cy="411480"/>
          </a:xfrm>
          <a:prstGeom prst="rect">
            <a:avLst/>
          </a:prstGeom>
        </p:spPr>
      </p:pic>
      <p:sp>
        <p:nvSpPr>
          <p:cNvPr id="17" name="Medicine name"/>
          <p:cNvSpPr txBox="1"/>
          <p:nvPr/>
        </p:nvSpPr>
        <p:spPr>
          <a:xfrm>
            <a:off x="7315200" y="3474720"/>
            <a:ext cx="4114800" cy="45720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Medicine</a:t>
            </a:r>
            <a:endParaRPr lang="en-US" sz="2600" dirty="0"/>
          </a:p>
        </p:txBody>
      </p:sp>
      <p:sp>
        <p:nvSpPr>
          <p:cNvPr id="18" name="Medicine detail"/>
          <p:cNvSpPr txBox="1"/>
          <p:nvPr/>
        </p:nvSpPr>
        <p:spPr>
          <a:xfrm>
            <a:off x="7315200" y="3950208"/>
            <a:ext cx="4114800" cy="365760"/>
          </a:xfrm>
          <a:prstGeom prst="rect">
            <a:avLst/>
          </a:prstGeom>
          <a:noFill/>
          <a:ln/>
        </p:spPr>
        <p:txBody>
          <a:bodyPr wrap="square" lIns="0" tIns="0" rIns="0" bIns="0" rtlCol="0" anchor="ctr"/>
          <a:lstStyle/>
          <a:p>
            <a:pPr indent="0" marL="0">
              <a:buNone/>
            </a:pPr>
            <a:r>
              <a:rPr lang="en-US" sz="1800" dirty="0">
                <a:solidFill>
                  <a:schemeClr val="tx1"/>
                </a:solidFill>
              </a:rPr>
              <a:t>Hypertension care</a:t>
            </a:r>
            <a:endParaRPr lang="en-US" sz="1800" dirty="0"/>
          </a:p>
        </p:txBody>
      </p:sp>
      <p:sp>
        <p:nvSpPr>
          <p:cNvPr id="19" name="Therapy card"/>
          <p:cNvSpPr/>
          <p:nvPr/>
        </p:nvSpPr>
        <p:spPr>
          <a:xfrm>
            <a:off x="6035040" y="4709160"/>
            <a:ext cx="5605272" cy="1188720"/>
          </a:xfrm>
          <a:prstGeom prst="roundRect">
            <a:avLst>
              <a:gd name="adj" fmla="val 7692"/>
            </a:avLst>
          </a:prstGeom>
          <a:solidFill>
            <a:schemeClr val="bg2"/>
          </a:solidFill>
          <a:ln w="12700">
            <a:solidFill>
              <a:schemeClr val="bg2"/>
            </a:solidFill>
            <a:prstDash val="solid"/>
          </a:ln>
        </p:spPr>
      </p:sp>
      <p:sp>
        <p:nvSpPr>
          <p:cNvPr id="20" name="Therapy circle"/>
          <p:cNvSpPr/>
          <p:nvPr/>
        </p:nvSpPr>
        <p:spPr>
          <a:xfrm>
            <a:off x="6263640" y="4892040"/>
            <a:ext cx="822960" cy="822960"/>
          </a:xfrm>
          <a:prstGeom prst="ellipse">
            <a:avLst/>
          </a:prstGeom>
          <a:solidFill>
            <a:schemeClr val="accent1"/>
          </a:solidFill>
          <a:ln w="12700">
            <a:solidFill>
              <a:schemeClr val="accent1"/>
            </a:solidFill>
            <a:prstDash val="solid"/>
          </a:ln>
        </p:spPr>
      </p:sp>
      <p:pic>
        <p:nvPicPr>
          <p:cNvPr id="21" name="Therapy icon" descr="Therapy">    </p:cNvPr>
          <p:cNvPicPr>
            <a:picLocks noChangeAspect="1"/>
          </p:cNvPicPr>
          <p:nvPr/>
        </p:nvPicPr>
        <p:blipFill>
          <a:blip r:embed="rId3"/>
          <a:stretch>
            <a:fillRect/>
          </a:stretch>
        </p:blipFill>
        <p:spPr>
          <a:xfrm>
            <a:off x="6469380" y="5097780"/>
            <a:ext cx="411480" cy="411480"/>
          </a:xfrm>
          <a:prstGeom prst="rect">
            <a:avLst/>
          </a:prstGeom>
        </p:spPr>
      </p:pic>
      <p:sp>
        <p:nvSpPr>
          <p:cNvPr id="22" name="Therapy name"/>
          <p:cNvSpPr txBox="1"/>
          <p:nvPr/>
        </p:nvSpPr>
        <p:spPr>
          <a:xfrm>
            <a:off x="7315200" y="4892040"/>
            <a:ext cx="4114800" cy="45720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Therapy</a:t>
            </a:r>
            <a:endParaRPr lang="en-US" sz="2600" dirty="0"/>
          </a:p>
        </p:txBody>
      </p:sp>
      <p:sp>
        <p:nvSpPr>
          <p:cNvPr id="23" name="Therapy detail"/>
          <p:cNvSpPr txBox="1"/>
          <p:nvPr/>
        </p:nvSpPr>
        <p:spPr>
          <a:xfrm>
            <a:off x="7315200" y="5367528"/>
            <a:ext cx="4114800" cy="365760"/>
          </a:xfrm>
          <a:prstGeom prst="rect">
            <a:avLst/>
          </a:prstGeom>
          <a:noFill/>
          <a:ln/>
        </p:spPr>
        <p:txBody>
          <a:bodyPr wrap="square" lIns="0" tIns="0" rIns="0" bIns="0" rtlCol="0" anchor="ctr"/>
          <a:lstStyle/>
          <a:p>
            <a:pPr indent="0" marL="0">
              <a:buNone/>
            </a:pPr>
            <a:r>
              <a:rPr lang="en-US" sz="1800" dirty="0">
                <a:solidFill>
                  <a:schemeClr val="tx1"/>
                </a:solidFill>
              </a:rPr>
              <a:t>Psychotherapy for depression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lIns="0" tIns="0" rIns="0" bIns="0" rtlCol="0" anchor="ctr"/>
          <a:lstStyle/>
          <a:p>
            <a:pPr indent="0" marL="0">
              <a:buNone/>
            </a:pPr>
            <a:r>
              <a:rPr lang="en-US" sz="2800" b="1" dirty="0">
                <a:solidFill>
                  <a:schemeClr val="accent1"/>
                </a:solidFill>
              </a:rPr>
              <a:t>Data &amp; approach</a:t>
            </a:r>
            <a:endParaRPr lang="en-US" sz="2800" dirty="0"/>
          </a:p>
        </p:txBody>
      </p:sp>
      <p:sp>
        <p:nvSpPr>
          <p:cNvPr id="3" name="Data card"/>
          <p:cNvSpPr/>
          <p:nvPr/>
        </p:nvSpPr>
        <p:spPr>
          <a:xfrm>
            <a:off x="548640" y="1188720"/>
            <a:ext cx="3514344" cy="3611880"/>
          </a:xfrm>
          <a:prstGeom prst="roundRect">
            <a:avLst>
              <a:gd name="adj" fmla="val 2602"/>
            </a:avLst>
          </a:prstGeom>
          <a:solidFill>
            <a:schemeClr val="bg2"/>
          </a:solidFill>
          <a:ln w="12700">
            <a:solidFill>
              <a:schemeClr val="bg2"/>
            </a:solidFill>
            <a:prstDash val="solid"/>
          </a:ln>
        </p:spPr>
      </p:sp>
      <p:sp>
        <p:nvSpPr>
          <p:cNvPr id="4" name="Data circle"/>
          <p:cNvSpPr/>
          <p:nvPr/>
        </p:nvSpPr>
        <p:spPr>
          <a:xfrm>
            <a:off x="822960" y="1371600"/>
            <a:ext cx="640080" cy="640080"/>
          </a:xfrm>
          <a:prstGeom prst="ellipse">
            <a:avLst/>
          </a:prstGeom>
          <a:solidFill>
            <a:schemeClr val="accent1"/>
          </a:solidFill>
          <a:ln w="12700">
            <a:solidFill>
              <a:schemeClr val="accent1"/>
            </a:solidFill>
            <a:prstDash val="solid"/>
          </a:ln>
        </p:spPr>
      </p:sp>
      <p:pic>
        <p:nvPicPr>
          <p:cNvPr id="5" name="Data icon" descr="Data">    </p:cNvPr>
          <p:cNvPicPr>
            <a:picLocks noChangeAspect="1"/>
          </p:cNvPicPr>
          <p:nvPr/>
        </p:nvPicPr>
        <p:blipFill>
          <a:blip r:embed="rId1"/>
          <a:stretch>
            <a:fillRect/>
          </a:stretch>
        </p:blipFill>
        <p:spPr>
          <a:xfrm>
            <a:off x="982980" y="1531620"/>
            <a:ext cx="320040" cy="320040"/>
          </a:xfrm>
          <a:prstGeom prst="rect">
            <a:avLst/>
          </a:prstGeom>
        </p:spPr>
      </p:pic>
      <p:sp>
        <p:nvSpPr>
          <p:cNvPr id="6" name="Data header"/>
          <p:cNvSpPr txBox="1"/>
          <p:nvPr/>
        </p:nvSpPr>
        <p:spPr>
          <a:xfrm>
            <a:off x="1600200" y="1463040"/>
            <a:ext cx="2234184" cy="45720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Data</a:t>
            </a:r>
            <a:endParaRPr lang="en-US" sz="2400" dirty="0"/>
          </a:p>
        </p:txBody>
      </p:sp>
      <p:sp>
        <p:nvSpPr>
          <p:cNvPr id="7" name="Data list"/>
          <p:cNvSpPr txBox="1"/>
          <p:nvPr/>
        </p:nvSpPr>
        <p:spPr>
          <a:xfrm>
            <a:off x="822960" y="2194560"/>
            <a:ext cx="3011424" cy="251460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rPr>
              <a:t>HAALSI · Agincourt, South Africa</a:t>
            </a:r>
            <a:endParaRPr lang="en-US" sz="1700" dirty="0"/>
          </a:p>
          <a:p>
            <a:pPr marL="177800" indent="-177800">
              <a:spcAft>
                <a:spcPts val="800"/>
              </a:spcAft>
              <a:buSzPct val="100000"/>
              <a:buChar char="•"/>
            </a:pPr>
            <a:r>
              <a:rPr lang="en-US" sz="1700" dirty="0">
                <a:solidFill>
                  <a:schemeClr val="tx1"/>
                </a:solidFill>
              </a:rPr>
              <a:t>5,059 adults aged 40+</a:t>
            </a:r>
            <a:endParaRPr lang="en-US" sz="1700" dirty="0"/>
          </a:p>
          <a:p>
            <a:pPr marL="177800" indent="-177800">
              <a:spcAft>
                <a:spcPts val="800"/>
              </a:spcAft>
              <a:buSzPct val="100000"/>
              <a:buChar char="•"/>
            </a:pPr>
            <a:r>
              <a:rPr lang="en-US" sz="1700" dirty="0">
                <a:solidFill>
                  <a:schemeClr val="tx1"/>
                </a:solidFill>
              </a:rPr>
              <a:t>3 waves over ~6 years</a:t>
            </a:r>
            <a:endParaRPr lang="en-US" sz="1700" dirty="0"/>
          </a:p>
        </p:txBody>
      </p:sp>
      <p:sp>
        <p:nvSpPr>
          <p:cNvPr id="8" name="Measures card"/>
          <p:cNvSpPr/>
          <p:nvPr/>
        </p:nvSpPr>
        <p:spPr>
          <a:xfrm>
            <a:off x="4337304" y="1188720"/>
            <a:ext cx="3514344" cy="3611880"/>
          </a:xfrm>
          <a:prstGeom prst="roundRect">
            <a:avLst>
              <a:gd name="adj" fmla="val 2602"/>
            </a:avLst>
          </a:prstGeom>
          <a:solidFill>
            <a:schemeClr val="bg2"/>
          </a:solidFill>
          <a:ln w="12700">
            <a:solidFill>
              <a:schemeClr val="bg2"/>
            </a:solidFill>
            <a:prstDash val="solid"/>
          </a:ln>
        </p:spPr>
      </p:sp>
      <p:sp>
        <p:nvSpPr>
          <p:cNvPr id="9" name="Measures circle"/>
          <p:cNvSpPr/>
          <p:nvPr/>
        </p:nvSpPr>
        <p:spPr>
          <a:xfrm>
            <a:off x="4611624" y="1371600"/>
            <a:ext cx="640080" cy="640080"/>
          </a:xfrm>
          <a:prstGeom prst="ellipse">
            <a:avLst/>
          </a:prstGeom>
          <a:solidFill>
            <a:schemeClr val="accent1"/>
          </a:solidFill>
          <a:ln w="12700">
            <a:solidFill>
              <a:schemeClr val="accent1"/>
            </a:solidFill>
            <a:prstDash val="solid"/>
          </a:ln>
        </p:spPr>
      </p:sp>
      <p:pic>
        <p:nvPicPr>
          <p:cNvPr id="10" name="Measures icon" descr="Measures">    </p:cNvPr>
          <p:cNvPicPr>
            <a:picLocks noChangeAspect="1"/>
          </p:cNvPicPr>
          <p:nvPr/>
        </p:nvPicPr>
        <p:blipFill>
          <a:blip r:embed="rId2"/>
          <a:stretch>
            <a:fillRect/>
          </a:stretch>
        </p:blipFill>
        <p:spPr>
          <a:xfrm>
            <a:off x="4771644" y="1531620"/>
            <a:ext cx="320040" cy="320040"/>
          </a:xfrm>
          <a:prstGeom prst="rect">
            <a:avLst/>
          </a:prstGeom>
        </p:spPr>
      </p:pic>
      <p:sp>
        <p:nvSpPr>
          <p:cNvPr id="11" name="Measures header"/>
          <p:cNvSpPr txBox="1"/>
          <p:nvPr/>
        </p:nvSpPr>
        <p:spPr>
          <a:xfrm>
            <a:off x="5388864" y="1463040"/>
            <a:ext cx="2234184" cy="45720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Measures</a:t>
            </a:r>
            <a:endParaRPr lang="en-US" sz="2400" dirty="0"/>
          </a:p>
        </p:txBody>
      </p:sp>
      <p:sp>
        <p:nvSpPr>
          <p:cNvPr id="12" name="Measures list"/>
          <p:cNvSpPr txBox="1"/>
          <p:nvPr/>
        </p:nvSpPr>
        <p:spPr>
          <a:xfrm>
            <a:off x="4611624" y="2194560"/>
            <a:ext cx="3011424" cy="251460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rPr>
              <a:t>Outcome: cognition score (orientation + word recall, Wave 1 SD units)</a:t>
            </a:r>
            <a:endParaRPr lang="en-US" sz="1700" dirty="0"/>
          </a:p>
          <a:p>
            <a:pPr marL="177800" indent="-177800">
              <a:spcAft>
                <a:spcPts val="800"/>
              </a:spcAft>
              <a:buSzPct val="100000"/>
              <a:buChar char="•"/>
            </a:pPr>
            <a:r>
              <a:rPr lang="en-US" sz="1700" dirty="0">
                <a:solidFill>
                  <a:schemeClr val="tx1"/>
                </a:solidFill>
              </a:rPr>
              <a:t>Low cognition: below 20th percentile</a:t>
            </a:r>
            <a:endParaRPr lang="en-US" sz="1700" dirty="0"/>
          </a:p>
          <a:p>
            <a:pPr marL="177800" indent="-177800">
              <a:spcAft>
                <a:spcPts val="800"/>
              </a:spcAft>
              <a:buSzPct val="100000"/>
              <a:buChar char="•"/>
            </a:pPr>
            <a:r>
              <a:rPr lang="en-US" sz="1700" dirty="0">
                <a:solidFill>
                  <a:schemeClr val="tx1"/>
                </a:solidFill>
              </a:rPr>
              <a:t>Exposures: household assets · hypertension (none / untreated / treated) · depressive symptoms (CES-D)</a:t>
            </a:r>
            <a:endParaRPr lang="en-US" sz="1700" dirty="0"/>
          </a:p>
        </p:txBody>
      </p:sp>
      <p:sp>
        <p:nvSpPr>
          <p:cNvPr id="13" name="Methods card"/>
          <p:cNvSpPr/>
          <p:nvPr/>
        </p:nvSpPr>
        <p:spPr>
          <a:xfrm>
            <a:off x="8125968" y="1188720"/>
            <a:ext cx="3514344" cy="3611880"/>
          </a:xfrm>
          <a:prstGeom prst="roundRect">
            <a:avLst>
              <a:gd name="adj" fmla="val 2602"/>
            </a:avLst>
          </a:prstGeom>
          <a:solidFill>
            <a:schemeClr val="bg2"/>
          </a:solidFill>
          <a:ln w="12700">
            <a:solidFill>
              <a:schemeClr val="bg2"/>
            </a:solidFill>
            <a:prstDash val="solid"/>
          </a:ln>
        </p:spPr>
      </p:sp>
      <p:sp>
        <p:nvSpPr>
          <p:cNvPr id="14" name="Methods circle"/>
          <p:cNvSpPr/>
          <p:nvPr/>
        </p:nvSpPr>
        <p:spPr>
          <a:xfrm>
            <a:off x="8400288" y="1371600"/>
            <a:ext cx="640080" cy="640080"/>
          </a:xfrm>
          <a:prstGeom prst="ellipse">
            <a:avLst/>
          </a:prstGeom>
          <a:solidFill>
            <a:schemeClr val="accent1"/>
          </a:solidFill>
          <a:ln w="12700">
            <a:solidFill>
              <a:schemeClr val="accent1"/>
            </a:solidFill>
            <a:prstDash val="solid"/>
          </a:ln>
        </p:spPr>
      </p:sp>
      <p:pic>
        <p:nvPicPr>
          <p:cNvPr id="15" name="Methods icon" descr="Methods">    </p:cNvPr>
          <p:cNvPicPr>
            <a:picLocks noChangeAspect="1"/>
          </p:cNvPicPr>
          <p:nvPr/>
        </p:nvPicPr>
        <p:blipFill>
          <a:blip r:embed="rId3"/>
          <a:stretch>
            <a:fillRect/>
          </a:stretch>
        </p:blipFill>
        <p:spPr>
          <a:xfrm>
            <a:off x="8560308" y="1531620"/>
            <a:ext cx="320040" cy="320040"/>
          </a:xfrm>
          <a:prstGeom prst="rect">
            <a:avLst/>
          </a:prstGeom>
        </p:spPr>
      </p:pic>
      <p:sp>
        <p:nvSpPr>
          <p:cNvPr id="16" name="Methods header"/>
          <p:cNvSpPr txBox="1"/>
          <p:nvPr/>
        </p:nvSpPr>
        <p:spPr>
          <a:xfrm>
            <a:off x="9177528" y="1463040"/>
            <a:ext cx="2234184" cy="45720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Methods</a:t>
            </a:r>
            <a:endParaRPr lang="en-US" sz="2400" dirty="0"/>
          </a:p>
        </p:txBody>
      </p:sp>
      <p:sp>
        <p:nvSpPr>
          <p:cNvPr id="17" name="Methods list"/>
          <p:cNvSpPr txBox="1"/>
          <p:nvPr/>
        </p:nvSpPr>
        <p:spPr>
          <a:xfrm>
            <a:off x="8400288" y="2194560"/>
            <a:ext cx="3011424" cy="251460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rPr>
              <a:t>Linear + logistic regression</a:t>
            </a:r>
            <a:endParaRPr lang="en-US" sz="1700" dirty="0"/>
          </a:p>
          <a:p>
            <a:pPr marL="177800" indent="-177800">
              <a:spcAft>
                <a:spcPts val="800"/>
              </a:spcAft>
              <a:buSzPct val="100000"/>
              <a:buChar char="•"/>
            </a:pPr>
            <a:r>
              <a:rPr lang="en-US" sz="1700" dirty="0">
                <a:solidFill>
                  <a:schemeClr val="tx1"/>
                </a:solidFill>
              </a:rPr>
              <a:t>Mixed model for change</a:t>
            </a:r>
            <a:endParaRPr lang="en-US" sz="1700" dirty="0"/>
          </a:p>
          <a:p>
            <a:pPr marL="177800" indent="-177800">
              <a:spcAft>
                <a:spcPts val="800"/>
              </a:spcAft>
              <a:buSzPct val="100000"/>
              <a:buChar char="•"/>
            </a:pPr>
            <a:r>
              <a:rPr lang="en-US" sz="1700" dirty="0">
                <a:solidFill>
                  <a:schemeClr val="tx1"/>
                </a:solidFill>
              </a:rPr>
              <a:t>Simulate each intervention: prevalence before vs after</a:t>
            </a:r>
            <a:endParaRPr lang="en-US" sz="1700" dirty="0"/>
          </a:p>
          <a:p>
            <a:pPr marL="177800" indent="-177800">
              <a:spcAft>
                <a:spcPts val="800"/>
              </a:spcAft>
              <a:buSzPct val="100000"/>
              <a:buChar char="•"/>
            </a:pPr>
            <a:r>
              <a:rPr lang="en-US" sz="1700" dirty="0">
                <a:solidFill>
                  <a:schemeClr val="tx1"/>
                </a:solidFill>
              </a:rPr>
              <a:t>Bootstrap 95% CI</a:t>
            </a:r>
            <a:endParaRPr lang="en-US" sz="1700" dirty="0"/>
          </a:p>
        </p:txBody>
      </p:sp>
      <p:sp>
        <p:nvSpPr>
          <p:cNvPr id="18" name="Adjustment card"/>
          <p:cNvSpPr/>
          <p:nvPr/>
        </p:nvSpPr>
        <p:spPr>
          <a:xfrm>
            <a:off x="548640" y="5029200"/>
            <a:ext cx="11091672" cy="1188720"/>
          </a:xfrm>
          <a:prstGeom prst="roundRect">
            <a:avLst>
              <a:gd name="adj" fmla="val 7692"/>
            </a:avLst>
          </a:prstGeom>
          <a:solidFill>
            <a:schemeClr val="accent3"/>
          </a:solidFill>
          <a:ln w="12700">
            <a:solidFill>
              <a:schemeClr val="accent3"/>
            </a:solidFill>
            <a:prstDash val="solid"/>
          </a:ln>
        </p:spPr>
      </p:sp>
      <p:sp>
        <p:nvSpPr>
          <p:cNvPr id="19" name="Adjustment text"/>
          <p:cNvSpPr txBox="1"/>
          <p:nvPr/>
        </p:nvSpPr>
        <p:spPr>
          <a:xfrm>
            <a:off x="822960" y="5120640"/>
            <a:ext cx="10607040" cy="1005840"/>
          </a:xfrm>
          <a:prstGeom prst="rect">
            <a:avLst/>
          </a:prstGeom>
          <a:noFill/>
          <a:ln/>
        </p:spPr>
        <p:txBody>
          <a:bodyPr wrap="square" lIns="0" tIns="0" rIns="0" bIns="0" rtlCol="0" anchor="ctr"/>
          <a:lstStyle/>
          <a:p>
            <a:pPr indent="0" marL="0">
              <a:buNone/>
            </a:pPr>
            <a:r>
              <a:rPr lang="en-US" sz="1900" b="1" dirty="0">
                <a:solidFill>
                  <a:schemeClr val="accent2"/>
                </a:solidFill>
              </a:rPr>
              <a:t>Adjusted for age, sex, education</a:t>
            </a:r>
            <a:endParaRPr lang="en-US" sz="1900" dirty="0"/>
          </a:p>
          <a:p>
            <a:pPr indent="0" marL="0">
              <a:buNone/>
            </a:pPr>
            <a:r>
              <a:rPr lang="en-US" sz="1900" dirty="0">
                <a:solidFill>
                  <a:schemeClr val="tx1"/>
                </a:solidFill>
              </a:rPr>
              <a:t>They come before the exposures. Not adjusted for BMI, hypertension or depression in the wealth model: they may be pathways.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lIns="0" tIns="0" rIns="0" bIns="0" rtlCol="0" anchor="ctr"/>
          <a:lstStyle/>
          <a:p>
            <a:pPr indent="0" marL="0">
              <a:buNone/>
            </a:pPr>
            <a:r>
              <a:rPr lang="en-US" sz="2800" b="1" dirty="0">
                <a:solidFill>
                  <a:schemeClr val="accent1"/>
                </a:solidFill>
              </a:rPr>
              <a:t>Finding 1 · Wealth: a steady gradient</a:t>
            </a:r>
            <a:endParaRPr lang="en-US" sz="2800" dirty="0"/>
          </a:p>
        </p:txBody>
      </p:sp>
      <p:pic>
        <p:nvPicPr>
          <p:cNvPr id="3" name="Chart" descr="Cognition by household wealth quintile, rising from Q1 (0) to Q5 (+0.31 SD), 95% CI">    </p:cNvPr>
          <p:cNvPicPr>
            <a:picLocks noChangeAspect="1"/>
          </p:cNvPicPr>
          <p:nvPr/>
        </p:nvPicPr>
        <p:blipFill>
          <a:blip r:embed="rId1"/>
          <a:stretch>
            <a:fillRect/>
          </a:stretch>
        </p:blipFill>
        <p:spPr>
          <a:xfrm>
            <a:off x="1889608" y="914400"/>
            <a:ext cx="8412480" cy="4729683"/>
          </a:xfrm>
          <a:prstGeom prst="rect">
            <a:avLst/>
          </a:prstGeom>
        </p:spPr>
      </p:pic>
      <p:sp>
        <p:nvSpPr>
          <p:cNvPr id="4" name="Stat 1 card"/>
          <p:cNvSpPr/>
          <p:nvPr/>
        </p:nvSpPr>
        <p:spPr>
          <a:xfrm>
            <a:off x="548640" y="5760720"/>
            <a:ext cx="2601468" cy="841248"/>
          </a:xfrm>
          <a:prstGeom prst="roundRect">
            <a:avLst>
              <a:gd name="adj" fmla="val 8696"/>
            </a:avLst>
          </a:prstGeom>
          <a:solidFill>
            <a:schemeClr val="bg2"/>
          </a:solidFill>
          <a:ln w="12700">
            <a:solidFill>
              <a:schemeClr val="bg2"/>
            </a:solidFill>
            <a:prstDash val="solid"/>
          </a:ln>
        </p:spPr>
      </p:sp>
      <p:sp>
        <p:nvSpPr>
          <p:cNvPr id="5" name="Stat 1 number"/>
          <p:cNvSpPr txBox="1"/>
          <p:nvPr/>
        </p:nvSpPr>
        <p:spPr>
          <a:xfrm>
            <a:off x="731520" y="5824728"/>
            <a:ext cx="2235708" cy="41148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+0.31 SD</a:t>
            </a:r>
            <a:endParaRPr lang="en-US" sz="2600" dirty="0"/>
          </a:p>
        </p:txBody>
      </p:sp>
      <p:sp>
        <p:nvSpPr>
          <p:cNvPr id="6" name="Stat 1 label"/>
          <p:cNvSpPr txBox="1"/>
          <p:nvPr/>
        </p:nvSpPr>
        <p:spPr>
          <a:xfrm>
            <a:off x="731520" y="6236208"/>
            <a:ext cx="2235708" cy="301752"/>
          </a:xfrm>
          <a:prstGeom prst="rect">
            <a:avLst/>
          </a:prstGeom>
          <a:noFill/>
          <a:ln/>
        </p:spPr>
        <p:txBody>
          <a:bodyPr wrap="square" lIns="0" tIns="0" rIns="0" bIns="0" rtlCol="0" anchor="t"/>
          <a:lstStyle/>
          <a:p>
            <a:pPr indent="0" marL="0">
              <a:buNone/>
            </a:pPr>
            <a:r>
              <a:rPr lang="en-US" sz="1400" dirty="0">
                <a:solidFill>
                  <a:schemeClr val="tx1"/>
                </a:solidFill>
              </a:rPr>
              <a:t>richest vs poorest quintile</a:t>
            </a:r>
            <a:endParaRPr lang="en-US" sz="1400" dirty="0"/>
          </a:p>
        </p:txBody>
      </p:sp>
      <p:sp>
        <p:nvSpPr>
          <p:cNvPr id="7" name="Stat 2 card"/>
          <p:cNvSpPr/>
          <p:nvPr/>
        </p:nvSpPr>
        <p:spPr>
          <a:xfrm>
            <a:off x="3378708" y="5760720"/>
            <a:ext cx="2601468" cy="841248"/>
          </a:xfrm>
          <a:prstGeom prst="roundRect">
            <a:avLst>
              <a:gd name="adj" fmla="val 8696"/>
            </a:avLst>
          </a:prstGeom>
          <a:solidFill>
            <a:schemeClr val="accent2"/>
          </a:solidFill>
          <a:ln w="12700">
            <a:solidFill>
              <a:schemeClr val="accent2"/>
            </a:solidFill>
            <a:prstDash val="solid"/>
          </a:ln>
        </p:spPr>
      </p:sp>
      <p:sp>
        <p:nvSpPr>
          <p:cNvPr id="8" name="Stat 2 number"/>
          <p:cNvSpPr txBox="1"/>
          <p:nvPr/>
        </p:nvSpPr>
        <p:spPr>
          <a:xfrm>
            <a:off x="3561588" y="5824728"/>
            <a:ext cx="2235708" cy="41148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OR 0.70</a:t>
            </a:r>
            <a:endParaRPr lang="en-US" sz="2600" dirty="0"/>
          </a:p>
        </p:txBody>
      </p:sp>
      <p:sp>
        <p:nvSpPr>
          <p:cNvPr id="9" name="Stat 2 label"/>
          <p:cNvSpPr txBox="1"/>
          <p:nvPr/>
        </p:nvSpPr>
        <p:spPr>
          <a:xfrm>
            <a:off x="3561588" y="6236208"/>
            <a:ext cx="2235708" cy="301752"/>
          </a:xfrm>
          <a:prstGeom prst="rect">
            <a:avLst/>
          </a:prstGeom>
          <a:noFill/>
          <a:ln/>
        </p:spPr>
        <p:txBody>
          <a:bodyPr wrap="square" lIns="0" tIns="0" rIns="0" bIns="0" rtlCol="0" anchor="t"/>
          <a:lstStyle/>
          <a:p>
            <a:pPr indent="0" marL="0">
              <a:buNone/>
            </a:pPr>
            <a:r>
              <a:rPr lang="en-US" sz="1400" dirty="0">
                <a:solidFill>
                  <a:schemeClr val="bg1"/>
                </a:solidFill>
              </a:rPr>
              <a:t>per 1 SD assets · CI 0.63–0.78</a:t>
            </a:r>
            <a:endParaRPr lang="en-US" sz="1400" dirty="0"/>
          </a:p>
        </p:txBody>
      </p:sp>
      <p:sp>
        <p:nvSpPr>
          <p:cNvPr id="10" name="Stat 3 card"/>
          <p:cNvSpPr/>
          <p:nvPr/>
        </p:nvSpPr>
        <p:spPr>
          <a:xfrm>
            <a:off x="6208776" y="5760720"/>
            <a:ext cx="2601468" cy="841248"/>
          </a:xfrm>
          <a:prstGeom prst="roundRect">
            <a:avLst>
              <a:gd name="adj" fmla="val 8696"/>
            </a:avLst>
          </a:prstGeom>
          <a:solidFill>
            <a:schemeClr val="bg2"/>
          </a:solidFill>
          <a:ln w="12700">
            <a:solidFill>
              <a:schemeClr val="bg2"/>
            </a:solidFill>
            <a:prstDash val="solid"/>
          </a:ln>
        </p:spPr>
      </p:sp>
      <p:sp>
        <p:nvSpPr>
          <p:cNvPr id="11" name="Stat 3 number"/>
          <p:cNvSpPr txBox="1"/>
          <p:nvPr/>
        </p:nvSpPr>
        <p:spPr>
          <a:xfrm>
            <a:off x="6391656" y="5824728"/>
            <a:ext cx="2235708" cy="41148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0.70–0.75</a:t>
            </a:r>
            <a:endParaRPr lang="en-US" sz="2600" dirty="0"/>
          </a:p>
        </p:txBody>
      </p:sp>
      <p:sp>
        <p:nvSpPr>
          <p:cNvPr id="12" name="Stat 3 label"/>
          <p:cNvSpPr txBox="1"/>
          <p:nvPr/>
        </p:nvSpPr>
        <p:spPr>
          <a:xfrm>
            <a:off x="6391656" y="6236208"/>
            <a:ext cx="2235708" cy="301752"/>
          </a:xfrm>
          <a:prstGeom prst="rect">
            <a:avLst/>
          </a:prstGeom>
          <a:noFill/>
          <a:ln/>
        </p:spPr>
        <p:txBody>
          <a:bodyPr wrap="square" lIns="0" tIns="0" rIns="0" bIns="0" rtlCol="0" anchor="t"/>
          <a:lstStyle/>
          <a:p>
            <a:pPr indent="0" marL="0">
              <a:buNone/>
            </a:pPr>
            <a:r>
              <a:rPr lang="en-US" sz="1400" dirty="0">
                <a:solidFill>
                  <a:schemeClr val="tx1"/>
                </a:solidFill>
              </a:rPr>
              <a:t>OR with extra controls</a:t>
            </a:r>
            <a:endParaRPr lang="en-US" sz="1400" dirty="0"/>
          </a:p>
        </p:txBody>
      </p:sp>
      <p:sp>
        <p:nvSpPr>
          <p:cNvPr id="13" name="Stat 4 card"/>
          <p:cNvSpPr/>
          <p:nvPr/>
        </p:nvSpPr>
        <p:spPr>
          <a:xfrm>
            <a:off x="9038844" y="5760720"/>
            <a:ext cx="2601468" cy="841248"/>
          </a:xfrm>
          <a:prstGeom prst="roundRect">
            <a:avLst>
              <a:gd name="adj" fmla="val 8696"/>
            </a:avLst>
          </a:prstGeom>
          <a:solidFill>
            <a:schemeClr val="bg2"/>
          </a:solidFill>
          <a:ln w="12700">
            <a:solidFill>
              <a:schemeClr val="bg2"/>
            </a:solidFill>
            <a:prstDash val="solid"/>
          </a:ln>
        </p:spPr>
      </p:sp>
      <p:sp>
        <p:nvSpPr>
          <p:cNvPr id="14" name="Stat 4 number"/>
          <p:cNvSpPr txBox="1"/>
          <p:nvPr/>
        </p:nvSpPr>
        <p:spPr>
          <a:xfrm>
            <a:off x="9221724" y="5824728"/>
            <a:ext cx="2235708" cy="41148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E-value 1.67</a:t>
            </a:r>
            <a:endParaRPr lang="en-US" sz="2600" dirty="0"/>
          </a:p>
        </p:txBody>
      </p:sp>
      <p:sp>
        <p:nvSpPr>
          <p:cNvPr id="15" name="Stat 4 label"/>
          <p:cNvSpPr txBox="1"/>
          <p:nvPr/>
        </p:nvSpPr>
        <p:spPr>
          <a:xfrm>
            <a:off x="9221724" y="6236208"/>
            <a:ext cx="2235708" cy="301752"/>
          </a:xfrm>
          <a:prstGeom prst="rect">
            <a:avLst/>
          </a:prstGeom>
          <a:noFill/>
          <a:ln/>
        </p:spPr>
        <p:txBody>
          <a:bodyPr wrap="square" lIns="0" tIns="0" rIns="0" bIns="0" rtlCol="0" anchor="t"/>
          <a:lstStyle/>
          <a:p>
            <a:pPr indent="0" marL="0">
              <a:buNone/>
            </a:pPr>
            <a:r>
              <a:rPr lang="en-US" sz="1400" dirty="0">
                <a:solidFill>
                  <a:schemeClr val="tx1"/>
                </a:solidFill>
              </a:rPr>
              <a:t>confounder RR needed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lIns="0" tIns="0" rIns="0" bIns="0" rtlCol="0" anchor="ctr"/>
          <a:lstStyle/>
          <a:p>
            <a:pPr indent="0" marL="0">
              <a:buNone/>
            </a:pPr>
            <a:r>
              <a:rPr lang="en-US" sz="2800" b="1" dirty="0">
                <a:solidFill>
                  <a:schemeClr val="accent1"/>
                </a:solidFill>
              </a:rPr>
              <a:t>Finding 2 · Hypertension: who gets treated, not what pills do</a:t>
            </a:r>
            <a:endParaRPr lang="en-US" sz="2800" dirty="0"/>
          </a:p>
        </p:txBody>
      </p:sp>
      <p:pic>
        <p:nvPicPr>
          <p:cNvPr id="3" name="Chart" descr="Cognition vs no hypertension: untreated +0.01 SD, treated +0.16 SD, 95% CI">    </p:cNvPr>
          <p:cNvPicPr>
            <a:picLocks noChangeAspect="1"/>
          </p:cNvPicPr>
          <p:nvPr/>
        </p:nvPicPr>
        <p:blipFill>
          <a:blip r:embed="rId1"/>
          <a:stretch>
            <a:fillRect/>
          </a:stretch>
        </p:blipFill>
        <p:spPr>
          <a:xfrm>
            <a:off x="1889608" y="914400"/>
            <a:ext cx="8412480" cy="4729683"/>
          </a:xfrm>
          <a:prstGeom prst="rect">
            <a:avLst/>
          </a:prstGeom>
        </p:spPr>
      </p:pic>
      <p:sp>
        <p:nvSpPr>
          <p:cNvPr id="4" name="Stat 1 card"/>
          <p:cNvSpPr/>
          <p:nvPr/>
        </p:nvSpPr>
        <p:spPr>
          <a:xfrm>
            <a:off x="548640" y="5760720"/>
            <a:ext cx="2601468" cy="841248"/>
          </a:xfrm>
          <a:prstGeom prst="roundRect">
            <a:avLst>
              <a:gd name="adj" fmla="val 8696"/>
            </a:avLst>
          </a:prstGeom>
          <a:solidFill>
            <a:schemeClr val="bg2"/>
          </a:solidFill>
          <a:ln w="12700">
            <a:solidFill>
              <a:schemeClr val="bg2"/>
            </a:solidFill>
            <a:prstDash val="solid"/>
          </a:ln>
        </p:spPr>
      </p:sp>
      <p:sp>
        <p:nvSpPr>
          <p:cNvPr id="5" name="Stat 1 number"/>
          <p:cNvSpPr txBox="1"/>
          <p:nvPr/>
        </p:nvSpPr>
        <p:spPr>
          <a:xfrm>
            <a:off x="731520" y="5824728"/>
            <a:ext cx="2235708" cy="41148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+0.01 SD</a:t>
            </a:r>
            <a:endParaRPr lang="en-US" sz="2600" dirty="0"/>
          </a:p>
        </p:txBody>
      </p:sp>
      <p:sp>
        <p:nvSpPr>
          <p:cNvPr id="6" name="Stat 1 label"/>
          <p:cNvSpPr txBox="1"/>
          <p:nvPr/>
        </p:nvSpPr>
        <p:spPr>
          <a:xfrm>
            <a:off x="731520" y="6236208"/>
            <a:ext cx="2235708" cy="301752"/>
          </a:xfrm>
          <a:prstGeom prst="rect">
            <a:avLst/>
          </a:prstGeom>
          <a:noFill/>
          <a:ln/>
        </p:spPr>
        <p:txBody>
          <a:bodyPr wrap="square" lIns="0" tIns="0" rIns="0" bIns="0" rtlCol="0" anchor="t"/>
          <a:lstStyle/>
          <a:p>
            <a:pPr indent="0" marL="0">
              <a:buNone/>
            </a:pPr>
            <a:r>
              <a:rPr lang="en-US" sz="1400" dirty="0">
                <a:solidFill>
                  <a:schemeClr val="tx1"/>
                </a:solidFill>
              </a:rPr>
              <a:t>untreated · CI −0.04 to 0.07</a:t>
            </a:r>
            <a:endParaRPr lang="en-US" sz="1400" dirty="0"/>
          </a:p>
        </p:txBody>
      </p:sp>
      <p:sp>
        <p:nvSpPr>
          <p:cNvPr id="7" name="Stat 2 card"/>
          <p:cNvSpPr/>
          <p:nvPr/>
        </p:nvSpPr>
        <p:spPr>
          <a:xfrm>
            <a:off x="3378708" y="5760720"/>
            <a:ext cx="2601468" cy="841248"/>
          </a:xfrm>
          <a:prstGeom prst="roundRect">
            <a:avLst>
              <a:gd name="adj" fmla="val 8696"/>
            </a:avLst>
          </a:prstGeom>
          <a:solidFill>
            <a:schemeClr val="bg2"/>
          </a:solidFill>
          <a:ln w="12700">
            <a:solidFill>
              <a:schemeClr val="bg2"/>
            </a:solidFill>
            <a:prstDash val="solid"/>
          </a:ln>
        </p:spPr>
      </p:sp>
      <p:sp>
        <p:nvSpPr>
          <p:cNvPr id="8" name="Stat 2 number"/>
          <p:cNvSpPr txBox="1"/>
          <p:nvPr/>
        </p:nvSpPr>
        <p:spPr>
          <a:xfrm>
            <a:off x="3561588" y="5824728"/>
            <a:ext cx="2235708" cy="41148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+0.16 SD</a:t>
            </a:r>
            <a:endParaRPr lang="en-US" sz="2600" dirty="0"/>
          </a:p>
        </p:txBody>
      </p:sp>
      <p:sp>
        <p:nvSpPr>
          <p:cNvPr id="9" name="Stat 2 label"/>
          <p:cNvSpPr txBox="1"/>
          <p:nvPr/>
        </p:nvSpPr>
        <p:spPr>
          <a:xfrm>
            <a:off x="3561588" y="6236208"/>
            <a:ext cx="2235708" cy="301752"/>
          </a:xfrm>
          <a:prstGeom prst="rect">
            <a:avLst/>
          </a:prstGeom>
          <a:noFill/>
          <a:ln/>
        </p:spPr>
        <p:txBody>
          <a:bodyPr wrap="square" lIns="0" tIns="0" rIns="0" bIns="0" rtlCol="0" anchor="t"/>
          <a:lstStyle/>
          <a:p>
            <a:pPr indent="0" marL="0">
              <a:buNone/>
            </a:pPr>
            <a:r>
              <a:rPr lang="en-US" sz="1400" dirty="0">
                <a:solidFill>
                  <a:schemeClr val="tx1"/>
                </a:solidFill>
              </a:rPr>
              <a:t>treated · CI 0.10 to 0.22</a:t>
            </a:r>
            <a:endParaRPr lang="en-US" sz="1400" dirty="0"/>
          </a:p>
        </p:txBody>
      </p:sp>
      <p:sp>
        <p:nvSpPr>
          <p:cNvPr id="10" name="Stat 3 card"/>
          <p:cNvSpPr/>
          <p:nvPr/>
        </p:nvSpPr>
        <p:spPr>
          <a:xfrm>
            <a:off x="6208776" y="5760720"/>
            <a:ext cx="2601468" cy="841248"/>
          </a:xfrm>
          <a:prstGeom prst="roundRect">
            <a:avLst>
              <a:gd name="adj" fmla="val 8696"/>
            </a:avLst>
          </a:prstGeom>
          <a:solidFill>
            <a:schemeClr val="accent2"/>
          </a:solidFill>
          <a:ln w="12700">
            <a:solidFill>
              <a:schemeClr val="accent2"/>
            </a:solidFill>
            <a:prstDash val="solid"/>
          </a:ln>
        </p:spPr>
      </p:sp>
      <p:sp>
        <p:nvSpPr>
          <p:cNvPr id="11" name="Stat 3 number"/>
          <p:cNvSpPr txBox="1"/>
          <p:nvPr/>
        </p:nvSpPr>
        <p:spPr>
          <a:xfrm>
            <a:off x="6391656" y="5824728"/>
            <a:ext cx="2235708" cy="41148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66.8 vs 62.5</a:t>
            </a:r>
            <a:endParaRPr lang="en-US" sz="2600" dirty="0"/>
          </a:p>
        </p:txBody>
      </p:sp>
      <p:sp>
        <p:nvSpPr>
          <p:cNvPr id="12" name="Stat 3 label"/>
          <p:cNvSpPr txBox="1"/>
          <p:nvPr/>
        </p:nvSpPr>
        <p:spPr>
          <a:xfrm>
            <a:off x="6391656" y="6236208"/>
            <a:ext cx="2235708" cy="301752"/>
          </a:xfrm>
          <a:prstGeom prst="rect">
            <a:avLst/>
          </a:prstGeom>
          <a:noFill/>
          <a:ln/>
        </p:spPr>
        <p:txBody>
          <a:bodyPr wrap="square" lIns="0" tIns="0" rIns="0" bIns="0" rtlCol="0" anchor="t"/>
          <a:lstStyle/>
          <a:p>
            <a:pPr indent="0" marL="0">
              <a:buNone/>
            </a:pPr>
            <a:r>
              <a:rPr lang="en-US" sz="1400" dirty="0">
                <a:solidFill>
                  <a:schemeClr val="bg1"/>
                </a:solidFill>
              </a:rPr>
              <a:t>treated are 4 years older</a:t>
            </a:r>
            <a:endParaRPr lang="en-US" sz="1400" dirty="0"/>
          </a:p>
        </p:txBody>
      </p:sp>
      <p:sp>
        <p:nvSpPr>
          <p:cNvPr id="13" name="Stat 4 card"/>
          <p:cNvSpPr/>
          <p:nvPr/>
        </p:nvSpPr>
        <p:spPr>
          <a:xfrm>
            <a:off x="9038844" y="5760720"/>
            <a:ext cx="2601468" cy="841248"/>
          </a:xfrm>
          <a:prstGeom prst="roundRect">
            <a:avLst>
              <a:gd name="adj" fmla="val 8696"/>
            </a:avLst>
          </a:prstGeom>
          <a:solidFill>
            <a:schemeClr val="accent2"/>
          </a:solidFill>
          <a:ln w="12700">
            <a:solidFill>
              <a:schemeClr val="accent2"/>
            </a:solidFill>
            <a:prstDash val="solid"/>
          </a:ln>
        </p:spPr>
      </p:sp>
      <p:sp>
        <p:nvSpPr>
          <p:cNvPr id="14" name="Stat 4 number"/>
          <p:cNvSpPr txBox="1"/>
          <p:nvPr/>
        </p:nvSpPr>
        <p:spPr>
          <a:xfrm>
            <a:off x="9221724" y="5824728"/>
            <a:ext cx="2235708" cy="41148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47% vs 40%</a:t>
            </a:r>
            <a:endParaRPr lang="en-US" sz="2600" dirty="0"/>
          </a:p>
        </p:txBody>
      </p:sp>
      <p:sp>
        <p:nvSpPr>
          <p:cNvPr id="15" name="Stat 4 label"/>
          <p:cNvSpPr txBox="1"/>
          <p:nvPr/>
        </p:nvSpPr>
        <p:spPr>
          <a:xfrm>
            <a:off x="9221724" y="6236208"/>
            <a:ext cx="2235708" cy="301752"/>
          </a:xfrm>
          <a:prstGeom prst="rect">
            <a:avLst/>
          </a:prstGeom>
          <a:noFill/>
          <a:ln/>
        </p:spPr>
        <p:txBody>
          <a:bodyPr wrap="square" lIns="0" tIns="0" rIns="0" bIns="0" rtlCol="0" anchor="t"/>
          <a:lstStyle/>
          <a:p>
            <a:pPr indent="0" marL="0">
              <a:buNone/>
            </a:pPr>
            <a:r>
              <a:rPr lang="en-US" sz="1400" dirty="0">
                <a:solidFill>
                  <a:schemeClr val="bg1"/>
                </a:solidFill>
              </a:rPr>
              <a:t>treated are richer (top 2 quintiles)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lIns="0" tIns="0" rIns="0" bIns="0" rtlCol="0" anchor="ctr"/>
          <a:lstStyle/>
          <a:p>
            <a:pPr indent="0" marL="0">
              <a:buNone/>
            </a:pPr>
            <a:r>
              <a:rPr lang="en-US" sz="2800" b="1" dirty="0">
                <a:solidFill>
                  <a:schemeClr val="accent1"/>
                </a:solidFill>
              </a:rPr>
              <a:t>Finding 3 · Depression: felt more than measured</a:t>
            </a:r>
            <a:endParaRPr lang="en-US" sz="2800" dirty="0"/>
          </a:p>
        </p:txBody>
      </p:sp>
      <p:pic>
        <p:nvPicPr>
          <p:cNvPr id="3" name="Chart" descr="Association per 1 SD depressive symptoms: test score 0.11 SD vs self-reported difficulty 0.17 to 0.20 SD, 95% CI">    </p:cNvPr>
          <p:cNvPicPr>
            <a:picLocks noChangeAspect="1"/>
          </p:cNvPicPr>
          <p:nvPr/>
        </p:nvPicPr>
        <p:blipFill>
          <a:blip r:embed="rId1"/>
          <a:stretch>
            <a:fillRect/>
          </a:stretch>
        </p:blipFill>
        <p:spPr>
          <a:xfrm>
            <a:off x="1889608" y="914400"/>
            <a:ext cx="8412480" cy="4729683"/>
          </a:xfrm>
          <a:prstGeom prst="rect">
            <a:avLst/>
          </a:prstGeom>
        </p:spPr>
      </p:pic>
      <p:sp>
        <p:nvSpPr>
          <p:cNvPr id="4" name="Stat 1 card"/>
          <p:cNvSpPr/>
          <p:nvPr/>
        </p:nvSpPr>
        <p:spPr>
          <a:xfrm>
            <a:off x="548640" y="5760720"/>
            <a:ext cx="3544824" cy="841248"/>
          </a:xfrm>
          <a:prstGeom prst="roundRect">
            <a:avLst>
              <a:gd name="adj" fmla="val 8696"/>
            </a:avLst>
          </a:prstGeom>
          <a:solidFill>
            <a:schemeClr val="bg2"/>
          </a:solidFill>
          <a:ln w="12700">
            <a:solidFill>
              <a:schemeClr val="bg2"/>
            </a:solidFill>
            <a:prstDash val="solid"/>
          </a:ln>
        </p:spPr>
      </p:sp>
      <p:sp>
        <p:nvSpPr>
          <p:cNvPr id="5" name="Stat 1 number"/>
          <p:cNvSpPr txBox="1"/>
          <p:nvPr/>
        </p:nvSpPr>
        <p:spPr>
          <a:xfrm>
            <a:off x="731520" y="5824728"/>
            <a:ext cx="3179064" cy="41148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−0.11 SD</a:t>
            </a:r>
            <a:endParaRPr lang="en-US" sz="2600" dirty="0"/>
          </a:p>
        </p:txBody>
      </p:sp>
      <p:sp>
        <p:nvSpPr>
          <p:cNvPr id="6" name="Stat 1 label"/>
          <p:cNvSpPr txBox="1"/>
          <p:nvPr/>
        </p:nvSpPr>
        <p:spPr>
          <a:xfrm>
            <a:off x="731520" y="6236208"/>
            <a:ext cx="3179064" cy="301752"/>
          </a:xfrm>
          <a:prstGeom prst="rect">
            <a:avLst/>
          </a:prstGeom>
          <a:noFill/>
          <a:ln/>
        </p:spPr>
        <p:txBody>
          <a:bodyPr wrap="square" lIns="0" tIns="0" rIns="0" bIns="0" rtlCol="0" anchor="t"/>
          <a:lstStyle/>
          <a:p>
            <a:pPr indent="0" marL="0">
              <a:buNone/>
            </a:pPr>
            <a:r>
              <a:rPr lang="en-US" sz="1400" dirty="0">
                <a:solidFill>
                  <a:schemeClr val="tx1"/>
                </a:solidFill>
              </a:rPr>
              <a:t>test score per 1 SD more symptoms</a:t>
            </a:r>
            <a:endParaRPr lang="en-US" sz="1400" dirty="0"/>
          </a:p>
        </p:txBody>
      </p:sp>
      <p:sp>
        <p:nvSpPr>
          <p:cNvPr id="7" name="Stat 2 card"/>
          <p:cNvSpPr/>
          <p:nvPr/>
        </p:nvSpPr>
        <p:spPr>
          <a:xfrm>
            <a:off x="4322064" y="5760720"/>
            <a:ext cx="3544824" cy="841248"/>
          </a:xfrm>
          <a:prstGeom prst="roundRect">
            <a:avLst>
              <a:gd name="adj" fmla="val 8696"/>
            </a:avLst>
          </a:prstGeom>
          <a:solidFill>
            <a:schemeClr val="bg2"/>
          </a:solidFill>
          <a:ln w="12700">
            <a:solidFill>
              <a:schemeClr val="bg2"/>
            </a:solidFill>
            <a:prstDash val="solid"/>
          </a:ln>
        </p:spPr>
      </p:sp>
      <p:sp>
        <p:nvSpPr>
          <p:cNvPr id="8" name="Stat 2 number"/>
          <p:cNvSpPr txBox="1"/>
          <p:nvPr/>
        </p:nvSpPr>
        <p:spPr>
          <a:xfrm>
            <a:off x="4504944" y="5824728"/>
            <a:ext cx="3179064" cy="41148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+0.17 to +0.20 SD</a:t>
            </a:r>
            <a:endParaRPr lang="en-US" sz="2600" dirty="0"/>
          </a:p>
        </p:txBody>
      </p:sp>
      <p:sp>
        <p:nvSpPr>
          <p:cNvPr id="9" name="Stat 2 label"/>
          <p:cNvSpPr txBox="1"/>
          <p:nvPr/>
        </p:nvSpPr>
        <p:spPr>
          <a:xfrm>
            <a:off x="4504944" y="6236208"/>
            <a:ext cx="3179064" cy="301752"/>
          </a:xfrm>
          <a:prstGeom prst="rect">
            <a:avLst/>
          </a:prstGeom>
          <a:noFill/>
          <a:ln/>
        </p:spPr>
        <p:txBody>
          <a:bodyPr wrap="square" lIns="0" tIns="0" rIns="0" bIns="0" rtlCol="0" anchor="t"/>
          <a:lstStyle/>
          <a:p>
            <a:pPr indent="0" marL="0">
              <a:buNone/>
            </a:pPr>
            <a:r>
              <a:rPr lang="en-US" sz="1400" dirty="0">
                <a:solidFill>
                  <a:schemeClr val="tx1"/>
                </a:solidFill>
              </a:rPr>
              <a:t>self-reported difficulty</a:t>
            </a:r>
            <a:endParaRPr lang="en-US" sz="1400" dirty="0"/>
          </a:p>
        </p:txBody>
      </p:sp>
      <p:sp>
        <p:nvSpPr>
          <p:cNvPr id="10" name="Stat 3 card"/>
          <p:cNvSpPr/>
          <p:nvPr/>
        </p:nvSpPr>
        <p:spPr>
          <a:xfrm>
            <a:off x="8095488" y="5760720"/>
            <a:ext cx="3544824" cy="841248"/>
          </a:xfrm>
          <a:prstGeom prst="roundRect">
            <a:avLst>
              <a:gd name="adj" fmla="val 8696"/>
            </a:avLst>
          </a:prstGeom>
          <a:solidFill>
            <a:schemeClr val="accent2"/>
          </a:solidFill>
          <a:ln w="12700">
            <a:solidFill>
              <a:schemeClr val="accent2"/>
            </a:solidFill>
            <a:prstDash val="solid"/>
          </a:ln>
        </p:spPr>
      </p:sp>
      <p:sp>
        <p:nvSpPr>
          <p:cNvPr id="11" name="Stat 3 number"/>
          <p:cNvSpPr txBox="1"/>
          <p:nvPr/>
        </p:nvSpPr>
        <p:spPr>
          <a:xfrm>
            <a:off x="8278368" y="5824728"/>
            <a:ext cx="3179064" cy="41148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Almost 2×</a:t>
            </a:r>
            <a:endParaRPr lang="en-US" sz="2600" dirty="0"/>
          </a:p>
        </p:txBody>
      </p:sp>
      <p:sp>
        <p:nvSpPr>
          <p:cNvPr id="12" name="Stat 3 label"/>
          <p:cNvSpPr txBox="1"/>
          <p:nvPr/>
        </p:nvSpPr>
        <p:spPr>
          <a:xfrm>
            <a:off x="8278368" y="6236208"/>
            <a:ext cx="3179064" cy="301752"/>
          </a:xfrm>
          <a:prstGeom prst="rect">
            <a:avLst/>
          </a:prstGeom>
          <a:noFill/>
          <a:ln/>
        </p:spPr>
        <p:txBody>
          <a:bodyPr wrap="square" lIns="0" tIns="0" rIns="0" bIns="0" rtlCol="0" anchor="t"/>
          <a:lstStyle/>
          <a:p>
            <a:pPr indent="0" marL="0">
              <a:buNone/>
            </a:pPr>
            <a:r>
              <a:rPr lang="en-US" sz="1400" dirty="0">
                <a:solidFill>
                  <a:schemeClr val="bg1"/>
                </a:solidFill>
              </a:rPr>
              <a:t>self-reports would over-flag the depressed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lIns="0" tIns="0" rIns="0" bIns="0" rtlCol="0" anchor="ctr"/>
          <a:lstStyle/>
          <a:p>
            <a:pPr indent="0" marL="0">
              <a:buNone/>
            </a:pPr>
            <a:r>
              <a:rPr lang="en-US" sz="2800" b="1" dirty="0">
                <a:solidFill>
                  <a:schemeClr val="accent1"/>
                </a:solidFill>
              </a:rPr>
              <a:t>What could each intervention achieve?</a:t>
            </a:r>
            <a:endParaRPr lang="en-US" sz="2800" dirty="0"/>
          </a:p>
        </p:txBody>
      </p:sp>
      <p:pic>
        <p:nvPicPr>
          <p:cNvPr id="3" name="Chart" descr="Modelled change in percent with low cognition: cash transfer −2.2, hypertension care −2.1, psychotherapy −0.6 percentage points, bootstrap 95% CI">    </p:cNvPr>
          <p:cNvPicPr>
            <a:picLocks noChangeAspect="1"/>
          </p:cNvPicPr>
          <p:nvPr/>
        </p:nvPicPr>
        <p:blipFill>
          <a:blip r:embed="rId1"/>
          <a:stretch>
            <a:fillRect/>
          </a:stretch>
        </p:blipFill>
        <p:spPr>
          <a:xfrm>
            <a:off x="548640" y="1143000"/>
            <a:ext cx="7589520" cy="4266997"/>
          </a:xfrm>
          <a:prstGeom prst="rect">
            <a:avLst/>
          </a:prstGeom>
        </p:spPr>
      </p:pic>
      <p:sp>
        <p:nvSpPr>
          <p:cNvPr id="4" name="Other scenarios"/>
          <p:cNvSpPr txBox="1"/>
          <p:nvPr/>
        </p:nvSpPr>
        <p:spPr>
          <a:xfrm>
            <a:off x="548640" y="5532120"/>
            <a:ext cx="7589520" cy="731520"/>
          </a:xfrm>
          <a:prstGeom prst="rect">
            <a:avLst/>
          </a:prstGeom>
          <a:noFill/>
          <a:ln/>
        </p:spPr>
        <p:txBody>
          <a:bodyPr wrap="square" lIns="0" tIns="0" rIns="0" bIns="0" rtlCol="0" anchor="t"/>
          <a:lstStyle/>
          <a:p>
            <a:pPr indent="0" marL="0">
              <a:buNone/>
            </a:pPr>
            <a:r>
              <a:rPr lang="en-US" sz="1700" b="1" dirty="0">
                <a:solidFill>
                  <a:schemeClr val="accent1"/>
                </a:solidFill>
              </a:rPr>
              <a:t>Hypertension care −2.1 pp (−2.9 to −1.3): </a:t>
            </a:r>
            <a:pPr indent="0" marL="0">
              <a:buNone/>
            </a:pPr>
            <a:r>
              <a:rPr lang="en-US" sz="1700" dirty="0">
                <a:solidFill>
                  <a:schemeClr val="tx1"/>
                </a:solidFill>
              </a:rPr>
              <a:t>least trustworthy (Finding 2)</a:t>
            </a:r>
            <a:endParaRPr lang="en-US" sz="1700" dirty="0"/>
          </a:p>
          <a:p>
            <a:pPr indent="0" marL="0">
              <a:buNone/>
            </a:pPr>
            <a:r>
              <a:rPr lang="en-US" sz="1700" b="1" dirty="0">
                <a:solidFill>
                  <a:schemeClr val="accent1"/>
                </a:solidFill>
              </a:rPr>
              <a:t>Psychotherapy −0.6 pp (−0.8 to −0.4)</a:t>
            </a:r>
            <a:endParaRPr lang="en-US" sz="1700" dirty="0"/>
          </a:p>
        </p:txBody>
      </p:sp>
      <p:sp>
        <p:nvSpPr>
          <p:cNvPr id="5" name="Verdict card"/>
          <p:cNvSpPr/>
          <p:nvPr/>
        </p:nvSpPr>
        <p:spPr>
          <a:xfrm>
            <a:off x="8458200" y="1143000"/>
            <a:ext cx="3182112" cy="5120640"/>
          </a:xfrm>
          <a:prstGeom prst="roundRect">
            <a:avLst>
              <a:gd name="adj" fmla="val 2874"/>
            </a:avLst>
          </a:prstGeom>
          <a:solidFill>
            <a:schemeClr val="accent1"/>
          </a:solidFill>
          <a:ln w="12700">
            <a:solidFill>
              <a:schemeClr val="accent1"/>
            </a:solidFill>
            <a:prstDash val="solid"/>
          </a:ln>
        </p:spPr>
      </p:sp>
      <p:sp>
        <p:nvSpPr>
          <p:cNvPr id="6" name="Verdict kicker"/>
          <p:cNvSpPr txBox="1"/>
          <p:nvPr/>
        </p:nvSpPr>
        <p:spPr>
          <a:xfrm>
            <a:off x="8732520" y="1371600"/>
            <a:ext cx="2633472" cy="320040"/>
          </a:xfrm>
          <a:prstGeom prst="rect">
            <a:avLst/>
          </a:prstGeom>
          <a:noFill/>
          <a:ln/>
        </p:spPr>
        <p:txBody>
          <a:bodyPr wrap="square" lIns="0" tIns="0" rIns="0" bIns="0" rtlCol="0" anchor="ctr"/>
          <a:lstStyle/>
          <a:p>
            <a:pPr indent="0" marL="0">
              <a:buNone/>
            </a:pPr>
            <a:r>
              <a:rPr lang="en-US" sz="1400" b="1" spc="200" kern="0" dirty="0">
                <a:solidFill>
                  <a:schemeClr val="accent4"/>
                </a:solidFill>
              </a:rPr>
              <a:t>VERDICT</a:t>
            </a:r>
            <a:endParaRPr lang="en-US" sz="1400" dirty="0"/>
          </a:p>
        </p:txBody>
      </p:sp>
      <p:sp>
        <p:nvSpPr>
          <p:cNvPr id="7" name="Verdict name"/>
          <p:cNvSpPr txBox="1"/>
          <p:nvPr/>
        </p:nvSpPr>
        <p:spPr>
          <a:xfrm>
            <a:off x="8732520" y="1691640"/>
            <a:ext cx="2633472" cy="45720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Cash transfer</a:t>
            </a:r>
            <a:endParaRPr lang="en-US" sz="2600" dirty="0"/>
          </a:p>
        </p:txBody>
      </p:sp>
      <p:sp>
        <p:nvSpPr>
          <p:cNvPr id="8" name="Verdict stat"/>
          <p:cNvSpPr txBox="1"/>
          <p:nvPr/>
        </p:nvSpPr>
        <p:spPr>
          <a:xfrm>
            <a:off x="8732520" y="2240280"/>
            <a:ext cx="2633472" cy="868680"/>
          </a:xfrm>
          <a:prstGeom prst="rect">
            <a:avLst/>
          </a:prstGeom>
          <a:noFill/>
          <a:ln/>
        </p:spPr>
        <p:txBody>
          <a:bodyPr wrap="square" lIns="0" tIns="0" rIns="0" bIns="0" rtlCol="0" anchor="ctr"/>
          <a:lstStyle/>
          <a:p>
            <a:pPr indent="0" marL="0">
              <a:buNone/>
            </a:pPr>
            <a:r>
              <a:rPr lang="en-US" sz="6000" b="1" dirty="0">
                <a:solidFill>
                  <a:schemeClr val="bg1"/>
                </a:solidFill>
                <a:latin typeface="Arial" pitchFamily="34" charset="0"/>
                <a:ea typeface="Arial" pitchFamily="34" charset="-122"/>
                <a:cs typeface="Arial" pitchFamily="34" charset="-120"/>
              </a:rPr>
              <a:t>−2.2 pp</a:t>
            </a:r>
            <a:endParaRPr lang="en-US" sz="6000" dirty="0"/>
          </a:p>
        </p:txBody>
      </p:sp>
      <p:sp>
        <p:nvSpPr>
          <p:cNvPr id="9" name="Verdict CI"/>
          <p:cNvSpPr txBox="1"/>
          <p:nvPr/>
        </p:nvSpPr>
        <p:spPr>
          <a:xfrm>
            <a:off x="8732520" y="3108960"/>
            <a:ext cx="2633472" cy="548640"/>
          </a:xfrm>
          <a:prstGeom prst="rect">
            <a:avLst/>
          </a:prstGeom>
          <a:noFill/>
          <a:ln/>
        </p:spPr>
        <p:txBody>
          <a:bodyPr wrap="square" lIns="0" tIns="0" rIns="0" bIns="0" rtlCol="0" anchor="t"/>
          <a:lstStyle/>
          <a:p>
            <a:pPr indent="0" marL="0">
              <a:buNone/>
            </a:pPr>
            <a:r>
              <a:rPr lang="en-US" sz="1500" dirty="0">
                <a:solidFill>
                  <a:schemeClr val="accent4"/>
                </a:solidFill>
              </a:rPr>
              <a:t>95% CI −2.8 to −1.6 · about 11% of cases</a:t>
            </a:r>
            <a:endParaRPr lang="en-US" sz="1500" dirty="0"/>
          </a:p>
        </p:txBody>
      </p:sp>
      <p:sp>
        <p:nvSpPr>
          <p:cNvPr id="10" name="Verdict reasons"/>
          <p:cNvSpPr txBox="1"/>
          <p:nvPr/>
        </p:nvSpPr>
        <p:spPr>
          <a:xfrm>
            <a:off x="8732520" y="3794760"/>
            <a:ext cx="2724912" cy="2286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1"/>
                </a:solidFill>
              </a:rPr>
              <a:t>Largest effect</a:t>
            </a:r>
            <a:endParaRPr lang="en-US" sz="1600" dirty="0"/>
          </a:p>
          <a:p>
            <a:pPr marL="177800" indent="-177800">
              <a:spcAft>
                <a:spcPts val="600"/>
              </a:spcAft>
              <a:buSzPct val="100000"/>
              <a:buChar char="•"/>
            </a:pPr>
            <a:r>
              <a:rPr lang="en-US" sz="1600" dirty="0">
                <a:solidFill>
                  <a:schemeClr val="bg1"/>
                </a:solidFill>
              </a:rPr>
              <a:t>Most credible</a:t>
            </a:r>
            <a:endParaRPr lang="en-US" sz="1600" dirty="0"/>
          </a:p>
          <a:p>
            <a:pPr marL="177800" indent="-177800">
              <a:spcAft>
                <a:spcPts val="600"/>
              </a:spcAft>
              <a:buSzPct val="100000"/>
              <a:buChar char="•"/>
            </a:pPr>
            <a:r>
              <a:rPr lang="en-US" sz="1600" dirty="0">
                <a:solidFill>
                  <a:schemeClr val="bg1"/>
                </a:solidFill>
              </a:rPr>
              <a:t>Backed by SA Old Age Pension research (Case 2001; Duflo 2003)</a:t>
            </a:r>
            <a:endParaRPr lang="en-US" sz="1600" dirty="0"/>
          </a:p>
          <a:p>
            <a:pPr marL="177800" indent="-177800">
              <a:spcAft>
                <a:spcPts val="600"/>
              </a:spcAft>
              <a:buSzPct val="100000"/>
              <a:buChar char="•"/>
            </a:pPr>
            <a:r>
              <a:rPr lang="en-US" sz="1600" dirty="0">
                <a:solidFill>
                  <a:schemeClr val="bg1"/>
                </a:solidFill>
              </a:rPr>
              <a:t>Helps the whole household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594360"/>
          </a:xfrm>
          <a:prstGeom prst="rect">
            <a:avLst/>
          </a:prstGeom>
          <a:noFill/>
          <a:ln/>
        </p:spPr>
        <p:txBody>
          <a:bodyPr wrap="square" lIns="0" tIns="0" rIns="0" bIns="0" rtlCol="0" anchor="ctr"/>
          <a:lstStyle/>
          <a:p>
            <a:pPr indent="0" marL="0">
              <a:buNone/>
            </a:pPr>
            <a:r>
              <a:rPr lang="en-US" sz="2800" b="1" dirty="0">
                <a:solidFill>
                  <a:schemeClr val="accent1"/>
                </a:solidFill>
              </a:rPr>
              <a:t>Limitations &amp; implications</a:t>
            </a:r>
            <a:endParaRPr lang="en-US" sz="2800" dirty="0"/>
          </a:p>
        </p:txBody>
      </p:sp>
      <p:sp>
        <p:nvSpPr>
          <p:cNvPr id="3" name="Limitation 1 circle"/>
          <p:cNvSpPr/>
          <p:nvPr/>
        </p:nvSpPr>
        <p:spPr>
          <a:xfrm>
            <a:off x="548640" y="1280160"/>
            <a:ext cx="640080" cy="640080"/>
          </a:xfrm>
          <a:prstGeom prst="ellipse">
            <a:avLst/>
          </a:prstGeom>
          <a:solidFill>
            <a:schemeClr val="accent2"/>
          </a:solidFill>
          <a:ln w="12700">
            <a:solidFill>
              <a:schemeClr val="accent2"/>
            </a:solidFill>
            <a:prstDash val="solid"/>
          </a:ln>
        </p:spPr>
      </p:sp>
      <p:sp>
        <p:nvSpPr>
          <p:cNvPr id="4" name="Limitation 1 number"/>
          <p:cNvSpPr txBox="1"/>
          <p:nvPr/>
        </p:nvSpPr>
        <p:spPr>
          <a:xfrm>
            <a:off x="548640" y="12801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Limitation 1 title"/>
          <p:cNvSpPr txBox="1"/>
          <p:nvPr/>
        </p:nvSpPr>
        <p:spPr>
          <a:xfrm>
            <a:off x="1417320" y="1234440"/>
            <a:ext cx="5394960" cy="45720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Observational</a:t>
            </a:r>
            <a:endParaRPr lang="en-US" sz="2400" dirty="0"/>
          </a:p>
        </p:txBody>
      </p:sp>
      <p:sp>
        <p:nvSpPr>
          <p:cNvPr id="6" name="Limitation 1 detail"/>
          <p:cNvSpPr txBox="1"/>
          <p:nvPr/>
        </p:nvSpPr>
        <p:spPr>
          <a:xfrm>
            <a:off x="1417320" y="1737360"/>
            <a:ext cx="5394960" cy="914400"/>
          </a:xfrm>
          <a:prstGeom prst="rect">
            <a:avLst/>
          </a:prstGeom>
          <a:noFill/>
          <a:ln/>
        </p:spPr>
        <p:txBody>
          <a:bodyPr wrap="square" lIns="0" tIns="0" rIns="0" bIns="0" rtlCol="0" anchor="t"/>
          <a:lstStyle/>
          <a:p>
            <a:pPr indent="0" marL="0">
              <a:buNone/>
            </a:pPr>
            <a:r>
              <a:rPr lang="en-US" sz="1700" dirty="0">
                <a:solidFill>
                  <a:schemeClr val="tx1"/>
                </a:solidFill>
              </a:rPr>
              <a:t>Wealth may proxy lifelong advantage (childhood, ability). E-value 1.67 shows how strong that would need to be.</a:t>
            </a:r>
            <a:endParaRPr lang="en-US" sz="1700" dirty="0"/>
          </a:p>
        </p:txBody>
      </p:sp>
      <p:sp>
        <p:nvSpPr>
          <p:cNvPr id="7" name="Limitation 2 circle"/>
          <p:cNvSpPr/>
          <p:nvPr/>
        </p:nvSpPr>
        <p:spPr>
          <a:xfrm>
            <a:off x="548640" y="2926080"/>
            <a:ext cx="640080" cy="640080"/>
          </a:xfrm>
          <a:prstGeom prst="ellipse">
            <a:avLst/>
          </a:prstGeom>
          <a:solidFill>
            <a:schemeClr val="accent2"/>
          </a:solidFill>
          <a:ln w="12700">
            <a:solidFill>
              <a:schemeClr val="accent2"/>
            </a:solidFill>
            <a:prstDash val="solid"/>
          </a:ln>
        </p:spPr>
      </p:sp>
      <p:sp>
        <p:nvSpPr>
          <p:cNvPr id="8" name="Limitation 2 number"/>
          <p:cNvSpPr txBox="1"/>
          <p:nvPr/>
        </p:nvSpPr>
        <p:spPr>
          <a:xfrm>
            <a:off x="548640" y="29260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Limitation 2 title"/>
          <p:cNvSpPr txBox="1"/>
          <p:nvPr/>
        </p:nvSpPr>
        <p:spPr>
          <a:xfrm>
            <a:off x="1417320" y="2880360"/>
            <a:ext cx="5394960" cy="45720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Access to care</a:t>
            </a:r>
            <a:endParaRPr lang="en-US" sz="2400" dirty="0"/>
          </a:p>
        </p:txBody>
      </p:sp>
      <p:sp>
        <p:nvSpPr>
          <p:cNvPr id="10" name="Limitation 2 detail"/>
          <p:cNvSpPr txBox="1"/>
          <p:nvPr/>
        </p:nvSpPr>
        <p:spPr>
          <a:xfrm>
            <a:off x="1417320" y="3383280"/>
            <a:ext cx="5394960" cy="914400"/>
          </a:xfrm>
          <a:prstGeom prst="rect">
            <a:avLst/>
          </a:prstGeom>
          <a:noFill/>
          <a:ln/>
        </p:spPr>
        <p:txBody>
          <a:bodyPr wrap="square" lIns="0" tIns="0" rIns="0" bIns="0" rtlCol="0" anchor="t"/>
          <a:lstStyle/>
          <a:p>
            <a:pPr indent="0" marL="0">
              <a:buNone/>
            </a:pPr>
            <a:r>
              <a:rPr lang="en-US" sz="1700" dirty="0">
                <a:solidFill>
                  <a:schemeClr val="tx1"/>
                </a:solidFill>
              </a:rPr>
              <a:t>Treated vs untreated hypertension is confounded by who reaches a clinic.</a:t>
            </a:r>
            <a:endParaRPr lang="en-US" sz="1700" dirty="0"/>
          </a:p>
        </p:txBody>
      </p:sp>
      <p:sp>
        <p:nvSpPr>
          <p:cNvPr id="11" name="Limitation 3 circle"/>
          <p:cNvSpPr/>
          <p:nvPr/>
        </p:nvSpPr>
        <p:spPr>
          <a:xfrm>
            <a:off x="548640" y="4572000"/>
            <a:ext cx="640080" cy="640080"/>
          </a:xfrm>
          <a:prstGeom prst="ellipse">
            <a:avLst/>
          </a:prstGeom>
          <a:solidFill>
            <a:schemeClr val="accent2"/>
          </a:solidFill>
          <a:ln w="12700">
            <a:solidFill>
              <a:schemeClr val="accent2"/>
            </a:solidFill>
            <a:prstDash val="solid"/>
          </a:ln>
        </p:spPr>
      </p:sp>
      <p:sp>
        <p:nvSpPr>
          <p:cNvPr id="12" name="Limitation 3 number"/>
          <p:cNvSpPr txBox="1"/>
          <p:nvPr/>
        </p:nvSpPr>
        <p:spPr>
          <a:xfrm>
            <a:off x="548640" y="45720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3" name="Limitation 3 title"/>
          <p:cNvSpPr txBox="1"/>
          <p:nvPr/>
        </p:nvSpPr>
        <p:spPr>
          <a:xfrm>
            <a:off x="1417320" y="4526280"/>
            <a:ext cx="5394960" cy="45720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Practice &amp; attrition</a:t>
            </a:r>
            <a:endParaRPr lang="en-US" sz="2400" dirty="0"/>
          </a:p>
        </p:txBody>
      </p:sp>
      <p:sp>
        <p:nvSpPr>
          <p:cNvPr id="14" name="Limitation 3 detail"/>
          <p:cNvSpPr txBox="1"/>
          <p:nvPr/>
        </p:nvSpPr>
        <p:spPr>
          <a:xfrm>
            <a:off x="1417320" y="5029200"/>
            <a:ext cx="5394960" cy="914400"/>
          </a:xfrm>
          <a:prstGeom prst="rect">
            <a:avLst/>
          </a:prstGeom>
          <a:noFill/>
          <a:ln/>
        </p:spPr>
        <p:txBody>
          <a:bodyPr wrap="square" lIns="0" tIns="0" rIns="0" bIns="0" rtlCol="0" anchor="t"/>
          <a:lstStyle/>
          <a:p>
            <a:pPr indent="0" marL="0">
              <a:buNone/>
            </a:pPr>
            <a:r>
              <a:rPr lang="en-US" sz="1700" dirty="0">
                <a:solidFill>
                  <a:schemeClr val="tx1"/>
                </a:solidFill>
              </a:rPr>
              <a:t>Scores rise ~0.08 SD/yr from practice; ~1 in 5 died by Wave 3. Change estimates lean upward.</a:t>
            </a:r>
            <a:endParaRPr lang="en-US" sz="1700" dirty="0"/>
          </a:p>
        </p:txBody>
      </p:sp>
      <p:sp>
        <p:nvSpPr>
          <p:cNvPr id="15" name="Implications card"/>
          <p:cNvSpPr/>
          <p:nvPr/>
        </p:nvSpPr>
        <p:spPr>
          <a:xfrm>
            <a:off x="7269480" y="1234440"/>
            <a:ext cx="4370832" cy="4983480"/>
          </a:xfrm>
          <a:prstGeom prst="roundRect">
            <a:avLst>
              <a:gd name="adj" fmla="val 2092"/>
            </a:avLst>
          </a:prstGeom>
          <a:solidFill>
            <a:schemeClr val="accent1"/>
          </a:solidFill>
          <a:ln w="12700">
            <a:solidFill>
              <a:schemeClr val="accent1"/>
            </a:solidFill>
            <a:prstDash val="solid"/>
          </a:ln>
        </p:spPr>
      </p:sp>
      <p:sp>
        <p:nvSpPr>
          <p:cNvPr id="16" name="Implications kicker"/>
          <p:cNvSpPr txBox="1"/>
          <p:nvPr/>
        </p:nvSpPr>
        <p:spPr>
          <a:xfrm>
            <a:off x="7589520" y="1463040"/>
            <a:ext cx="3730752" cy="320040"/>
          </a:xfrm>
          <a:prstGeom prst="rect">
            <a:avLst/>
          </a:prstGeom>
          <a:noFill/>
          <a:ln/>
        </p:spPr>
        <p:txBody>
          <a:bodyPr wrap="square" lIns="0" tIns="0" rIns="0" bIns="0" rtlCol="0" anchor="ctr"/>
          <a:lstStyle/>
          <a:p>
            <a:pPr indent="0" marL="0">
              <a:buNone/>
            </a:pPr>
            <a:r>
              <a:rPr lang="en-US" sz="1400" b="1" spc="200" kern="0" dirty="0">
                <a:solidFill>
                  <a:schemeClr val="accent4"/>
                </a:solidFill>
              </a:rPr>
              <a:t>IMPLICATIONS</a:t>
            </a:r>
            <a:endParaRPr lang="en-US" sz="1400" dirty="0"/>
          </a:p>
        </p:txBody>
      </p:sp>
      <p:sp>
        <p:nvSpPr>
          <p:cNvPr id="17" name="Implication 1"/>
          <p:cNvSpPr txBox="1"/>
          <p:nvPr/>
        </p:nvSpPr>
        <p:spPr>
          <a:xfrm>
            <a:off x="7589520" y="1874520"/>
            <a:ext cx="3730752" cy="128016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Prioritise cash transfers and pension coverage</a:t>
            </a:r>
            <a:endParaRPr lang="en-US" sz="2600" dirty="0"/>
          </a:p>
        </p:txBody>
      </p:sp>
      <p:sp>
        <p:nvSpPr>
          <p:cNvPr id="18" name="Implication 2 kicker"/>
          <p:cNvSpPr txBox="1"/>
          <p:nvPr/>
        </p:nvSpPr>
        <p:spPr>
          <a:xfrm>
            <a:off x="7589520" y="3657600"/>
            <a:ext cx="3730752" cy="365760"/>
          </a:xfrm>
          <a:prstGeom prst="rect">
            <a:avLst/>
          </a:prstGeom>
          <a:noFill/>
          <a:ln/>
        </p:spPr>
        <p:txBody>
          <a:bodyPr wrap="square" lIns="0" tIns="0" rIns="0" bIns="0" rtlCol="0" anchor="ctr"/>
          <a:lstStyle/>
          <a:p>
            <a:pPr indent="0" marL="0">
              <a:buNone/>
            </a:pPr>
            <a:r>
              <a:rPr lang="en-US" sz="1800" b="1" dirty="0">
                <a:solidFill>
                  <a:schemeClr val="accent4"/>
                </a:solidFill>
              </a:rPr>
              <a:t>Test it causally</a:t>
            </a:r>
            <a:endParaRPr lang="en-US" sz="1800" dirty="0"/>
          </a:p>
        </p:txBody>
      </p:sp>
      <p:sp>
        <p:nvSpPr>
          <p:cNvPr id="19" name="Implication 2"/>
          <p:cNvSpPr txBox="1"/>
          <p:nvPr/>
        </p:nvSpPr>
        <p:spPr>
          <a:xfrm>
            <a:off x="7589520" y="4069080"/>
            <a:ext cx="3730752" cy="1097280"/>
          </a:xfrm>
          <a:prstGeom prst="rect">
            <a:avLst/>
          </a:prstGeom>
          <a:noFill/>
          <a:ln/>
        </p:spPr>
        <p:txBody>
          <a:bodyPr wrap="square" lIns="0" tIns="0" rIns="0" bIns="0" rtlCol="0" anchor="t"/>
          <a:lstStyle/>
          <a:p>
            <a:pPr indent="0" marL="0">
              <a:buNone/>
            </a:pPr>
            <a:r>
              <a:rPr lang="en-US" sz="2000" dirty="0">
                <a:solidFill>
                  <a:schemeClr val="bg1"/>
                </a:solidFill>
              </a:rPr>
              <a:t>Regression discontinuity at the pension-eligibility age of 60</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hanks"/>
          <p:cNvSpPr txBox="1"/>
          <p:nvPr/>
        </p:nvSpPr>
        <p:spPr>
          <a:xfrm>
            <a:off x="731520" y="1737360"/>
            <a:ext cx="10698480" cy="1097280"/>
          </a:xfrm>
          <a:prstGeom prst="rect">
            <a:avLst/>
          </a:prstGeom>
          <a:noFill/>
          <a:ln/>
        </p:spPr>
        <p:txBody>
          <a:bodyPr wrap="square" lIns="0" tIns="0" rIns="0" bIns="0" rtlCol="0" anchor="ctr"/>
          <a:lstStyle/>
          <a:p>
            <a:pPr indent="0" marL="0">
              <a:buNone/>
            </a:pPr>
            <a:r>
              <a:rPr lang="en-US" sz="6000" b="1" dirty="0">
                <a:solidFill>
                  <a:schemeClr val="bg1"/>
                </a:solidFill>
                <a:latin typeface="Arial" pitchFamily="34" charset="0"/>
                <a:ea typeface="Arial" pitchFamily="34" charset="-122"/>
                <a:cs typeface="Arial" pitchFamily="34" charset="-120"/>
              </a:rPr>
              <a:t>Thank you</a:t>
            </a:r>
            <a:endParaRPr lang="en-US" sz="6000" dirty="0"/>
          </a:p>
        </p:txBody>
      </p:sp>
      <p:sp>
        <p:nvSpPr>
          <p:cNvPr id="3" name="Questions"/>
          <p:cNvSpPr txBox="1"/>
          <p:nvPr/>
        </p:nvSpPr>
        <p:spPr>
          <a:xfrm>
            <a:off x="731520" y="2880360"/>
            <a:ext cx="10698480" cy="822960"/>
          </a:xfrm>
          <a:prstGeom prst="rect">
            <a:avLst/>
          </a:prstGeom>
          <a:noFill/>
          <a:ln/>
        </p:spPr>
        <p:txBody>
          <a:bodyPr wrap="square" lIns="0" tIns="0" rIns="0" bIns="0" rtlCol="0" anchor="ctr"/>
          <a:lstStyle/>
          <a:p>
            <a:pPr indent="0" marL="0">
              <a:buNone/>
            </a:pPr>
            <a:r>
              <a:rPr lang="en-US" sz="4000" dirty="0">
                <a:solidFill>
                  <a:schemeClr val="accent4"/>
                </a:solidFill>
                <a:latin typeface="Arial" pitchFamily="34" charset="0"/>
                <a:ea typeface="Arial" pitchFamily="34" charset="-122"/>
                <a:cs typeface="Arial" pitchFamily="34" charset="-120"/>
              </a:rPr>
              <a:t>Questions?</a:t>
            </a:r>
            <a:endParaRPr lang="en-US" sz="4000" dirty="0"/>
          </a:p>
        </p:txBody>
      </p:sp>
      <p:sp>
        <p:nvSpPr>
          <p:cNvPr id="4" name="Citation"/>
          <p:cNvSpPr txBox="1"/>
          <p:nvPr/>
        </p:nvSpPr>
        <p:spPr>
          <a:xfrm>
            <a:off x="731520" y="5486400"/>
            <a:ext cx="10698480" cy="685800"/>
          </a:xfrm>
          <a:prstGeom prst="rect">
            <a:avLst/>
          </a:prstGeom>
          <a:noFill/>
          <a:ln/>
        </p:spPr>
        <p:txBody>
          <a:bodyPr wrap="square" lIns="0" tIns="0" rIns="0" bIns="0" rtlCol="0" anchor="b"/>
          <a:lstStyle/>
          <a:p>
            <a:pPr indent="0" marL="0">
              <a:buNone/>
            </a:pPr>
            <a:r>
              <a:rPr lang="en-US" sz="1200" dirty="0">
                <a:solidFill>
                  <a:schemeClr val="accent4"/>
                </a:solidFill>
              </a:rPr>
              <a:t>HAALSI is sponsored by the National Institute on Aging (P01 AG041710) and conducted by the Harvard Center for Population and Development Studies in partnership with the University of the Witwatersrand.</a:t>
            </a:r>
            <a:endParaRPr lang="en-US" sz="1200" dirty="0"/>
          </a:p>
        </p:txBody>
      </p:sp>
    </p:spTree>
  </p:cSld>
  <p:clrMapOvr>
    <a:masterClrMapping/>
  </p:clrMapOvr>
</p:sld>
</file>

<file path=ppt/theme/theme1.xml><?xml version="1.0" encoding="utf-8"?>
<a:theme xmlns:a="http://schemas.openxmlformats.org/drawingml/2006/main" name="HAALSI Hackathon">
  <a:themeElements>
    <a:clrScheme name="HAALSI Hackathon">
      <a:dk1>
        <a:srgbClr val="1A1A1A"/>
      </a:dk1>
      <a:lt1>
        <a:srgbClr val="FFFFFF"/>
      </a:lt1>
      <a:dk2>
        <a:srgbClr val="1F5F8B"/>
      </a:dk2>
      <a:lt2>
        <a:srgbClr val="EAF1F7"/>
      </a:lt2>
      <a:accent1>
        <a:srgbClr val="1F5F8B"/>
      </a:accent1>
      <a:accent2>
        <a:srgbClr val="B5442C"/>
      </a:accent2>
      <a:accent3>
        <a:srgbClr val="F7E6E1"/>
      </a:accent3>
      <a:accent4>
        <a:srgbClr val="CFE0EC"/>
      </a:accent4>
      <a:accent5>
        <a:srgbClr val="5A5A5A"/>
      </a:accent5>
      <a:accent6>
        <a:srgbClr val="123A57"/>
      </a:accent6>
      <a:hlink>
        <a:srgbClr val="1F5F8B"/>
      </a:hlink>
      <a:folHlink>
        <a:srgbClr val="B5442C"/>
      </a:folHlink>
    </a:clrScheme>
    <a:fontScheme name="HAALSI Hackath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Money, medicine or therapy?</dc:title>
  <dc:subject>PptxGenJS Presentation</dc:subject>
  <dc:creator>PptxGenJS</dc:creator>
  <cp:lastModifiedBy>PptxGenJS</cp:lastModifiedBy>
  <cp:revision>1</cp:revision>
  <dcterms:created xsi:type="dcterms:W3CDTF">2026-10-24T05:58:02Z</dcterms:created>
  <dcterms:modified xsi:type="dcterms:W3CDTF">2026-10-24T05:58:02Z</dcterms:modified>
</cp:coreProperties>
</file>